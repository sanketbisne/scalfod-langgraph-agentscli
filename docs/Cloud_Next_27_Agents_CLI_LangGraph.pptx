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ar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3" name="Box 3"/>
          <p:cNvSpPr txBox="1"/>
          <p:nvPr/>
        </p:nvSpPr>
        <p:spPr>
          <a:xfrm>
            <a:off x="711200" y="457200"/>
            <a:ext cx="3683000" cy="330200"/>
          </a:xfrm>
          <a:prstGeom prst="roundRect">
            <a:avLst>
              <a:gd name="adj" fmla="val 50000"/>
            </a:avLst>
          </a:prstGeom>
          <a:solidFill>
            <a:srgbClr val="162038"/>
          </a:solidFill>
          <a:ln w="12700">
            <a:solidFill>
              <a:srgbClr val="3B5998"/>
            </a:solidFill>
          </a:ln>
        </p:spPr>
        <p:txBody>
          <a:bodyPr wrap="square" lIns="152400" tIns="50800" rIns="152400" bIns="50800" anchor="ctr"/>
          <a:lstStyle/>
          <a:p>
            <a:pPr algn="c">
              <a:lnSpc>
                <a:spcPct val="118000"/>
              </a:lnSpc>
            </a:pPr>
            <a:r>
              <a:rPr lang="en-US" sz="950" b="1" dirty="0">
                <a:solidFill>
                  <a:srgbClr val="8AB4F8"/>
                </a:solidFill>
                <a:latin typeface="Google Sans"/>
                <a:cs typeface="Google Sans"/>
              </a:rPr>
              <a:t>Google Cloud Next '27  •  Developer Session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4546600" y="4572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anchor="ctr"/>
          <a:lstStyle/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Mono"/>
                <a:cs typeface="Google Sans Mono"/>
              </a:rPr>
              <a:t>agents-cli v1.8+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10668000" y="457200"/>
            <a:ext cx="81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50800" rIns="0" bIns="50800" anchor="ctr"/>
          <a:lstStyle/>
          <a:p>
            <a:pPr algn="r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Mono"/>
                <a:cs typeface="Google Sans Mono"/>
              </a:rPr>
              <a:t>01 / 10</a:t>
            </a:r>
          </a:p>
        </p:txBody>
      </p:sp>
      <p:sp>
        <p:nvSpPr>
          <p:cNvPr id="6" name="Box 6"/>
          <p:cNvSpPr txBox="1"/>
          <p:nvPr/>
        </p:nvSpPr>
        <p:spPr>
          <a:xfrm>
            <a:off x="711200" y="14986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100" b="1" dirty="0">
                <a:solidFill>
                  <a:srgbClr val="8AB4F8"/>
                </a:solidFill>
                <a:latin typeface="Google Sans"/>
                <a:cs typeface="Google Sans"/>
              </a:rPr>
              <a:t>POWERING THE AGENT DEVELOPMENT LIFECYCLE</a:t>
            </a:r>
          </a:p>
        </p:txBody>
      </p:sp>
      <p:sp>
        <p:nvSpPr>
          <p:cNvPr id="7" name="Box 7"/>
          <p:cNvSpPr txBox="1"/>
          <p:nvPr/>
        </p:nvSpPr>
        <p:spPr>
          <a:xfrm>
            <a:off x="711200" y="1879600"/>
            <a:ext cx="107696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lang="en-US" sz="44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Every agent framework.</a:t>
            </a:r>
          </a:p>
          <a:p>
            <a:pPr algn="l">
              <a:lnSpc>
                <a:spcPct val="110000"/>
              </a:lnSpc>
            </a:pPr>
            <a:r>
              <a:rPr lang="en-US" sz="4400" b="1" dirty="0">
                <a:solidFill>
                  <a:srgbClr val="4285F4"/>
                </a:solidFill>
                <a:latin typeface="Google Sans Display"/>
                <a:cs typeface="Google Sans Display"/>
              </a:rPr>
              <a:t>One </a:t>
            </a:r>
            <a:r>
              <a:rPr lang="en-US" sz="4400" b="1" dirty="0">
                <a:solidFill>
                  <a:srgbClr val="9B72CB"/>
                </a:solidFill>
                <a:latin typeface="Google Sans Display"/>
                <a:cs typeface="Google Sans Display"/>
              </a:rPr>
              <a:t>production </a:t>
            </a:r>
            <a:r>
              <a:rPr lang="en-US" sz="4400" b="1" dirty="0">
                <a:solidFill>
                  <a:srgbClr val="D96570"/>
                </a:solidFill>
                <a:latin typeface="Google Sans Display"/>
                <a:cs typeface="Google Sans Display"/>
              </a:rPr>
              <a:t>lifecycle.</a:t>
            </a:r>
          </a:p>
        </p:txBody>
      </p:sp>
      <p:sp>
        <p:nvSpPr>
          <p:cNvPr id="8" name="Box 8"/>
          <p:cNvSpPr txBox="1"/>
          <p:nvPr/>
        </p:nvSpPr>
        <p:spPr>
          <a:xfrm>
            <a:off x="711200" y="3746500"/>
            <a:ext cx="9652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1600" b="0" dirty="0">
                <a:solidFill>
                  <a:srgbClr val="BDC1C6"/>
                </a:solidFill>
                <a:latin typeface="Google Sans Text"/>
                <a:cs typeface="Google Sans Text"/>
              </a:rPr>
              <a:t>Running LangChain, LangGraph, and custom enterprise governance policies natively on Google Cloud with the Agents CLI Extension System.</a:t>
            </a:r>
          </a:p>
        </p:txBody>
      </p:sp>
      <p:sp>
        <p:nvSpPr>
          <p:cNvPr id="9" name="Rect 9"/>
          <p:cNvSpPr/>
          <p:nvPr/>
        </p:nvSpPr>
        <p:spPr>
          <a:xfrm>
            <a:off x="711200" y="5905500"/>
            <a:ext cx="10769600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</p:sp>
      <p:sp>
        <p:nvSpPr>
          <p:cNvPr id="10" name="Box 10"/>
          <p:cNvSpPr txBox="1"/>
          <p:nvPr/>
        </p:nvSpPr>
        <p:spPr>
          <a:xfrm>
            <a:off x="711200" y="6096000"/>
            <a:ext cx="5461000" cy="381000"/>
          </a:xfrm>
          <a:prstGeom prst="roundRect">
            <a:avLst>
              <a:gd name="adj" fmla="val 20000"/>
            </a:avLst>
          </a:prstGeom>
          <a:solidFill>
            <a:srgbClr val="1F2430"/>
          </a:solidFill>
          <a:ln w="12700">
            <a:solidFill>
              <a:srgbClr val="2D3343"/>
            </a:solidFill>
          </a:ln>
        </p:spPr>
        <p:txBody>
          <a:bodyPr wrap="square" lIns="152400" tIns="63500" rIns="152400" bIns="63500" anchor="ctr"/>
          <a:lstStyle/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FFFFFF"/>
                </a:solidFill>
                <a:latin typeface="Google Sans Mono"/>
                <a:cs typeface="Google Sans Mono"/>
              </a:rPr>
              <a:t>github.com/sanketbisne/scalfod-langgraph-agentscli</a:t>
            </a:r>
          </a:p>
        </p:txBody>
      </p:sp>
      <p:sp>
        <p:nvSpPr>
          <p:cNvPr id="11" name="Box 11"/>
          <p:cNvSpPr txBox="1"/>
          <p:nvPr/>
        </p:nvSpPr>
        <p:spPr>
          <a:xfrm>
            <a:off x="7620000" y="6096000"/>
            <a:ext cx="3860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50800" anchor="ctr"/>
          <a:lstStyle/>
          <a:p>
            <a:pPr algn="r">
              <a:lnSpc>
                <a:spcPct val="118000"/>
              </a:lnSpc>
            </a:pPr>
            <a:r>
              <a:rPr lang="en-US" sz="1000" b="0" dirty="0">
                <a:solidFill>
                  <a:srgbClr val="9AA0A6"/>
                </a:solidFill>
                <a:latin typeface="Google Sans"/>
                <a:cs typeface="Google Sans"/>
              </a:rPr>
              <a:t>Google Cloud AI &amp; Developer Platform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ar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3" name="Box 3"/>
          <p:cNvSpPr txBox="1"/>
          <p:nvPr/>
        </p:nvSpPr>
        <p:spPr>
          <a:xfrm>
            <a:off x="609600" y="2540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8AB4F8"/>
                </a:solidFill>
                <a:latin typeface="Google Sans"/>
                <a:cs typeface="Google Sans"/>
              </a:rPr>
              <a:t>BY THE NUMBERS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10795000" y="2540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Mono"/>
                <a:cs typeface="Google Sans Mono"/>
              </a:rPr>
              <a:t>02 / 10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26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Decoupling the lifecycle from the runtime.</a:t>
            </a:r>
          </a:p>
        </p:txBody>
      </p:sp>
      <p:sp>
        <p:nvSpPr>
          <p:cNvPr id="6" name="Box 6"/>
          <p:cNvSpPr txBox="1"/>
          <p:nvPr/>
        </p:nvSpPr>
        <p:spPr>
          <a:xfrm>
            <a:off x="609600" y="10414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250" b="0" dirty="0">
                <a:solidFill>
                  <a:srgbClr val="BDC1C6"/>
                </a:solidFill>
                <a:latin typeface="Google Sans Text"/>
                <a:cs typeface="Google Sans Text"/>
              </a:rPr>
              <a:t>Out of 24 CLI commands, 18 are framework-agnostic and only 6 touch the agent runtime.</a:t>
            </a:r>
          </a:p>
        </p:txBody>
      </p:sp>
      <p:sp>
        <p:nvSpPr>
          <p:cNvPr id="7" name="Box 7"/>
          <p:cNvSpPr txBox="1"/>
          <p:nvPr/>
        </p:nvSpPr>
        <p:spPr>
          <a:xfrm>
            <a:off x="609600" y="1651000"/>
            <a:ext cx="3505200" cy="4318000"/>
          </a:xfrm>
          <a:prstGeom prst="roundRect">
            <a:avLst>
              <a:gd name="adj" fmla="val 4500"/>
            </a:avLst>
          </a:prstGeom>
          <a:solidFill>
            <a:srgbClr val="161922"/>
          </a:solidFill>
          <a:ln w="12700">
            <a:solidFill>
              <a:srgbClr val="2D3343"/>
            </a:solidFill>
          </a:ln>
        </p:spPr>
        <p:txBody>
          <a:bodyPr wrap="square" lIns="254000" tIns="279400" rIns="254000" bIns="254000" anchor="t"/>
          <a:lstStyle/>
          <a:p>
            <a:pPr algn="l">
              <a:lnSpc>
                <a:spcPct val="118000"/>
              </a:lnSpc>
            </a:pPr>
            <a:r>
              <a:rPr lang="en-US" sz="5200" b="1" dirty="0">
                <a:solidFill>
                  <a:srgbClr val="8AB4F8"/>
                </a:solidFill>
                <a:latin typeface="Google Sans Display"/>
                <a:cs typeface="Google Sans Display"/>
              </a:rPr>
              <a:t>18+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FFFFFF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400" b="1" dirty="0">
                <a:solidFill>
                  <a:srgbClr val="FFFFFF"/>
                </a:solidFill>
                <a:latin typeface="Google Sans"/>
                <a:cs typeface="Google Sans"/>
              </a:rPr>
              <a:t>Framework-Agnostic Commands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9AA0A6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9AA0A6"/>
                </a:solidFill>
                <a:latin typeface="Google Sans Text"/>
                <a:cs typeface="Google Sans Text"/>
              </a:rPr>
              <a:t>deploy, eval grade, eval compare, infra, scaffold, lint, and login work unchanged across ADK, LangChain, and LangGraph.</a:t>
            </a:r>
          </a:p>
        </p:txBody>
      </p:sp>
      <p:sp>
        <p:nvSpPr>
          <p:cNvPr id="8" name="Box 8"/>
          <p:cNvSpPr txBox="1"/>
          <p:nvPr/>
        </p:nvSpPr>
        <p:spPr>
          <a:xfrm>
            <a:off x="4343400" y="1651000"/>
            <a:ext cx="3505200" cy="4318000"/>
          </a:xfrm>
          <a:prstGeom prst="roundRect">
            <a:avLst>
              <a:gd name="adj" fmla="val 4500"/>
            </a:avLst>
          </a:prstGeom>
          <a:solidFill>
            <a:srgbClr val="161922"/>
          </a:solidFill>
          <a:ln w="12700">
            <a:solidFill>
              <a:srgbClr val="2D3343"/>
            </a:solidFill>
          </a:ln>
        </p:spPr>
        <p:txBody>
          <a:bodyPr wrap="square" lIns="254000" tIns="279400" rIns="254000" bIns="254000" anchor="t"/>
          <a:lstStyle/>
          <a:p>
            <a:pPr algn="l">
              <a:lnSpc>
                <a:spcPct val="118000"/>
              </a:lnSpc>
            </a:pPr>
            <a:r>
              <a:rPr lang="en-US" sz="5200" b="1" dirty="0">
                <a:solidFill>
                  <a:srgbClr val="81C995"/>
                </a:solidFill>
                <a:latin typeface="Google Sans Display"/>
                <a:cs typeface="Google Sans Display"/>
              </a:rPr>
              <a:t>6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FFFFFF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400" b="1" dirty="0">
                <a:solidFill>
                  <a:srgbClr val="FFFFFF"/>
                </a:solidFill>
                <a:latin typeface="Google Sans"/>
                <a:cs typeface="Google Sans"/>
              </a:rPr>
              <a:t>Runtime Overrides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9AA0A6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9AA0A6"/>
                </a:solidFill>
                <a:latin typeface="Google Sans Text"/>
                <a:cs typeface="Google Sans Text"/>
              </a:rPr>
              <a:t>run, playground, and eval.generate hot-swap via a single agents-cli-extension.yaml manifest at the project root.</a:t>
            </a:r>
          </a:p>
        </p:txBody>
      </p:sp>
      <p:sp>
        <p:nvSpPr>
          <p:cNvPr id="9" name="Box 9"/>
          <p:cNvSpPr txBox="1"/>
          <p:nvPr/>
        </p:nvSpPr>
        <p:spPr>
          <a:xfrm>
            <a:off x="8077200" y="1651000"/>
            <a:ext cx="3505200" cy="4318000"/>
          </a:xfrm>
          <a:prstGeom prst="roundRect">
            <a:avLst>
              <a:gd name="adj" fmla="val 4500"/>
            </a:avLst>
          </a:prstGeom>
          <a:solidFill>
            <a:srgbClr val="161922"/>
          </a:solidFill>
          <a:ln w="12700">
            <a:solidFill>
              <a:srgbClr val="2D3343"/>
            </a:solidFill>
          </a:ln>
        </p:spPr>
        <p:txBody>
          <a:bodyPr wrap="square" lIns="254000" tIns="279400" rIns="254000" bIns="254000" anchor="t"/>
          <a:lstStyle/>
          <a:p>
            <a:pPr algn="l">
              <a:lnSpc>
                <a:spcPct val="118000"/>
              </a:lnSpc>
            </a:pPr>
            <a:r>
              <a:rPr lang="en-US" sz="5200" b="1" dirty="0">
                <a:solidFill>
                  <a:srgbClr val="FDD663"/>
                </a:solidFill>
                <a:latin typeface="Google Sans Display"/>
                <a:cs typeface="Google Sans Display"/>
              </a:rPr>
              <a:t>0%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FFFFFF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400" b="1" dirty="0">
                <a:solidFill>
                  <a:srgbClr val="FFFFFF"/>
                </a:solidFill>
                <a:latin typeface="Google Sans"/>
                <a:cs typeface="Google Sans"/>
              </a:rPr>
              <a:t>Framework Lock-In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9AA0A6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9AA0A6"/>
                </a:solidFill>
                <a:latin typeface="Google Sans Text"/>
                <a:cs typeface="Google Sans Text"/>
              </a:rPr>
              <a:t>Zero google-adk dependency required in pyproject.toml. Pure LangChain and LangGraph code in production.</a:t>
            </a:r>
          </a:p>
        </p:txBody>
      </p:sp>
      <p:sp>
        <p:nvSpPr>
          <p:cNvPr id="10" name="Rect 10"/>
          <p:cNvSpPr/>
          <p:nvPr/>
        </p:nvSpPr>
        <p:spPr>
          <a:xfrm>
            <a:off x="609600" y="6248400"/>
            <a:ext cx="10972800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09600" y="6324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Text"/>
                <a:cs typeface="Google Sans Text"/>
              </a:rPr>
              <a:t>Available starting in Agents CLI v1.5+ (Extension System) &amp; v1.8+ (LangChain Template)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7747000" y="63246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1" dirty="0">
                <a:solidFill>
                  <a:srgbClr val="8AB4F8"/>
                </a:solidFill>
                <a:latin typeface="Google Sans Mono"/>
                <a:cs typeface="Google Sans Mono"/>
              </a:rPr>
              <a:t>google/agents-cli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ar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3" name="Box 3"/>
          <p:cNvSpPr txBox="1"/>
          <p:nvPr/>
        </p:nvSpPr>
        <p:spPr>
          <a:xfrm>
            <a:off x="609600" y="2540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1A73E8"/>
                </a:solidFill>
                <a:latin typeface="Google Sans"/>
                <a:cs typeface="Google Sans"/>
              </a:rPr>
              <a:t>THE FRAMEWORK LOCK-IN PROBLEM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10795000" y="2540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0" dirty="0">
                <a:solidFill>
                  <a:srgbClr val="5F6368"/>
                </a:solidFill>
                <a:latin typeface="Google Sans Mono"/>
                <a:cs typeface="Google Sans Mono"/>
              </a:rPr>
              <a:t>03 / 10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2600" b="1" dirty="0">
                <a:solidFill>
                  <a:srgbClr val="202124"/>
                </a:solidFill>
                <a:latin typeface="Google Sans Display"/>
                <a:cs typeface="Google Sans Display"/>
              </a:rPr>
              <a:t>Ending the tradeoff between velocity and choice.</a:t>
            </a:r>
          </a:p>
        </p:txBody>
      </p:sp>
      <p:sp>
        <p:nvSpPr>
          <p:cNvPr id="6" name="Box 6"/>
          <p:cNvSpPr txBox="1"/>
          <p:nvPr/>
        </p:nvSpPr>
        <p:spPr>
          <a:xfrm>
            <a:off x="609600" y="10414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250" b="0" dirty="0">
                <a:solidFill>
                  <a:srgbClr val="5F6368"/>
                </a:solidFill>
                <a:latin typeface="Google Sans Text"/>
                <a:cs typeface="Google Sans Text"/>
              </a:rPr>
              <a:t>How teams previously adapted opinionated agent toolchains vs. the Agents CLI Extension System:</a:t>
            </a:r>
          </a:p>
        </p:txBody>
      </p:sp>
      <p:sp>
        <p:nvSpPr>
          <p:cNvPr id="7" name="Rect 7"/>
          <p:cNvSpPr/>
          <p:nvPr/>
        </p:nvSpPr>
        <p:spPr>
          <a:xfrm>
            <a:off x="609600" y="1651000"/>
            <a:ext cx="3505200" cy="4318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</p:spPr>
      </p:sp>
      <p:sp>
        <p:nvSpPr>
          <p:cNvPr id="8" name="Box 8"/>
          <p:cNvSpPr txBox="1"/>
          <p:nvPr/>
        </p:nvSpPr>
        <p:spPr>
          <a:xfrm>
            <a:off x="838200" y="1905000"/>
            <a:ext cx="1397000" cy="304800"/>
          </a:xfrm>
          <a:prstGeom prst="roundRect">
            <a:avLst>
              <a:gd name="adj" fmla="val 20000"/>
            </a:avLst>
          </a:prstGeom>
          <a:solidFill>
            <a:srgbClr val="FCE8E6"/>
          </a:solidFill>
          <a:ln>
            <a:noFill/>
          </a:ln>
        </p:spPr>
        <p:txBody>
          <a:bodyPr wrap="square" lIns="101600" tIns="38100" rIns="101600" bIns="38100" anchor="ctr"/>
          <a:lstStyle/>
          <a:p>
            <a:pPr algn="c">
              <a:lnSpc>
                <a:spcPct val="118000"/>
              </a:lnSpc>
            </a:pPr>
            <a:r>
              <a:rPr lang="en-US" sz="950" b="1" dirty="0">
                <a:solidFill>
                  <a:srgbClr val="C5221F"/>
                </a:solidFill>
                <a:latin typeface="Google Sans"/>
                <a:cs typeface="Google Sans"/>
              </a:rPr>
              <a:t>Legacy Path 1</a:t>
            </a:r>
          </a:p>
        </p:txBody>
      </p:sp>
      <p:sp>
        <p:nvSpPr>
          <p:cNvPr id="9" name="Box 9"/>
          <p:cNvSpPr txBox="1"/>
          <p:nvPr/>
        </p:nvSpPr>
        <p:spPr>
          <a:xfrm>
            <a:off x="838200" y="2362200"/>
            <a:ext cx="3048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600" b="1" dirty="0">
                <a:solidFill>
                  <a:srgbClr val="202124"/>
                </a:solidFill>
                <a:latin typeface="Google Sans"/>
                <a:cs typeface="Google Sans"/>
              </a:rPr>
              <a:t>Forking the CLI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5F6368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5F6368"/>
                </a:solidFill>
                <a:latin typeface="Google Sans Text"/>
                <a:cs typeface="Google Sans Text"/>
              </a:rPr>
              <a:t>Maintain a divergent internal copy and manually rebase on every upstream release.</a:t>
            </a:r>
          </a:p>
        </p:txBody>
      </p:sp>
      <p:sp>
        <p:nvSpPr>
          <p:cNvPr id="10" name="Rect 10"/>
          <p:cNvSpPr/>
          <p:nvPr/>
        </p:nvSpPr>
        <p:spPr>
          <a:xfrm>
            <a:off x="838200" y="5232400"/>
            <a:ext cx="3048000" cy="12700"/>
          </a:xfrm>
          <a:prstGeom prst="rect">
            <a:avLst/>
          </a:prstGeom>
          <a:solidFill>
            <a:srgbClr val="DADCE0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838200" y="53594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C5221F"/>
                </a:solidFill>
                <a:latin typeface="Google Sans Mono"/>
                <a:cs typeface="Google Sans Mono"/>
              </a:rPr>
              <a:t>Result: Permanent maintenance tax</a:t>
            </a:r>
          </a:p>
        </p:txBody>
      </p:sp>
      <p:sp>
        <p:nvSpPr>
          <p:cNvPr id="12" name="Rect 12"/>
          <p:cNvSpPr/>
          <p:nvPr/>
        </p:nvSpPr>
        <p:spPr>
          <a:xfrm>
            <a:off x="4343400" y="1651000"/>
            <a:ext cx="3505200" cy="431800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</p:spPr>
      </p:sp>
      <p:sp>
        <p:nvSpPr>
          <p:cNvPr id="13" name="Box 13"/>
          <p:cNvSpPr txBox="1"/>
          <p:nvPr/>
        </p:nvSpPr>
        <p:spPr>
          <a:xfrm>
            <a:off x="4572000" y="1905000"/>
            <a:ext cx="1397000" cy="304800"/>
          </a:xfrm>
          <a:prstGeom prst="roundRect">
            <a:avLst>
              <a:gd name="adj" fmla="val 20000"/>
            </a:avLst>
          </a:prstGeom>
          <a:solidFill>
            <a:srgbClr val="FEF7E0"/>
          </a:solidFill>
          <a:ln>
            <a:noFill/>
          </a:ln>
        </p:spPr>
        <p:txBody>
          <a:bodyPr wrap="square" lIns="101600" tIns="38100" rIns="101600" bIns="38100" anchor="ctr"/>
          <a:lstStyle/>
          <a:p>
            <a:pPr algn="c">
              <a:lnSpc>
                <a:spcPct val="118000"/>
              </a:lnSpc>
            </a:pPr>
            <a:r>
              <a:rPr lang="en-US" sz="950" b="1" dirty="0">
                <a:solidFill>
                  <a:srgbClr val="B06000"/>
                </a:solidFill>
                <a:latin typeface="Google Sans"/>
                <a:cs typeface="Google Sans"/>
              </a:rPr>
              <a:t>Legacy Path 2</a:t>
            </a:r>
          </a:p>
        </p:txBody>
      </p:sp>
      <p:sp>
        <p:nvSpPr>
          <p:cNvPr id="14" name="Box 14"/>
          <p:cNvSpPr txBox="1"/>
          <p:nvPr/>
        </p:nvSpPr>
        <p:spPr>
          <a:xfrm>
            <a:off x="4572000" y="2362200"/>
            <a:ext cx="3048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600" b="1" dirty="0">
                <a:solidFill>
                  <a:srgbClr val="202124"/>
                </a:solidFill>
                <a:latin typeface="Google Sans"/>
                <a:cs typeface="Google Sans"/>
              </a:rPr>
              <a:t>Custom Wrapper Scripts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5F6368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5F6368"/>
                </a:solidFill>
                <a:latin typeface="Google Sans Text"/>
                <a:cs typeface="Google Sans Text"/>
              </a:rPr>
              <a:t>Build parallel shell scripts around the CLI. Developers and coding agents call the native CLI directly and bypass policies.</a:t>
            </a:r>
          </a:p>
        </p:txBody>
      </p:sp>
      <p:sp>
        <p:nvSpPr>
          <p:cNvPr id="15" name="Rect 15"/>
          <p:cNvSpPr/>
          <p:nvPr/>
        </p:nvSpPr>
        <p:spPr>
          <a:xfrm>
            <a:off x="4572000" y="5232400"/>
            <a:ext cx="3048000" cy="12700"/>
          </a:xfrm>
          <a:prstGeom prst="rect">
            <a:avLst/>
          </a:prstGeom>
          <a:solidFill>
            <a:srgbClr val="DADCE0"/>
          </a:solidFill>
          <a:ln>
            <a:noFill/>
          </a:ln>
        </p:spPr>
      </p:sp>
      <p:sp>
        <p:nvSpPr>
          <p:cNvPr id="16" name="Box 16"/>
          <p:cNvSpPr txBox="1"/>
          <p:nvPr/>
        </p:nvSpPr>
        <p:spPr>
          <a:xfrm>
            <a:off x="4572000" y="53594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B06000"/>
                </a:solidFill>
                <a:latin typeface="Google Sans Mono"/>
                <a:cs typeface="Google Sans Mono"/>
              </a:rPr>
              <a:t>Result: Bypassed governance gates</a:t>
            </a:r>
          </a:p>
        </p:txBody>
      </p:sp>
      <p:sp>
        <p:nvSpPr>
          <p:cNvPr id="17" name="Rect 17"/>
          <p:cNvSpPr/>
          <p:nvPr/>
        </p:nvSpPr>
        <p:spPr>
          <a:xfrm>
            <a:off x="8077200" y="1651000"/>
            <a:ext cx="3505200" cy="4318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25400">
            <a:solidFill>
              <a:srgbClr val="1A73E8"/>
            </a:solidFill>
          </a:ln>
        </p:spPr>
      </p:sp>
      <p:sp>
        <p:nvSpPr>
          <p:cNvPr id="18" name="Box 18"/>
          <p:cNvSpPr txBox="1"/>
          <p:nvPr/>
        </p:nvSpPr>
        <p:spPr>
          <a:xfrm>
            <a:off x="8305800" y="1905000"/>
            <a:ext cx="1968500" cy="30480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</p:spPr>
        <p:txBody>
          <a:bodyPr wrap="square" lIns="101600" tIns="38100" rIns="101600" bIns="38100" anchor="ctr"/>
          <a:lstStyle/>
          <a:p>
            <a:pPr algn="c">
              <a:lnSpc>
                <a:spcPct val="118000"/>
              </a:lnSpc>
            </a:pPr>
            <a:r>
              <a:rPr lang="en-US" sz="950" b="1" dirty="0">
                <a:solidFill>
                  <a:srgbClr val="FFFFFF"/>
                </a:solidFill>
                <a:latin typeface="Google Sans"/>
                <a:cs typeface="Google Sans"/>
              </a:rPr>
              <a:t>Cloud Next '27 Standard</a:t>
            </a:r>
          </a:p>
        </p:txBody>
      </p:sp>
      <p:sp>
        <p:nvSpPr>
          <p:cNvPr id="19" name="Box 19"/>
          <p:cNvSpPr txBox="1"/>
          <p:nvPr/>
        </p:nvSpPr>
        <p:spPr>
          <a:xfrm>
            <a:off x="8305800" y="2362200"/>
            <a:ext cx="3048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600" b="1" dirty="0">
                <a:solidFill>
                  <a:srgbClr val="202124"/>
                </a:solidFill>
                <a:latin typeface="Google Sans"/>
                <a:cs typeface="Google Sans"/>
              </a:rPr>
              <a:t>Agents CLI Extensions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3C4043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3C4043"/>
                </a:solidFill>
                <a:latin typeface="Google Sans Text"/>
                <a:cs typeface="Google Sans Text"/>
              </a:rPr>
              <a:t>Declarative agents-cli-extension.yaml overrides commands in-place, pinned by Git commit SHA.</a:t>
            </a:r>
          </a:p>
        </p:txBody>
      </p:sp>
      <p:sp>
        <p:nvSpPr>
          <p:cNvPr id="20" name="Rect 20"/>
          <p:cNvSpPr/>
          <p:nvPr/>
        </p:nvSpPr>
        <p:spPr>
          <a:xfrm>
            <a:off x="8305800" y="5232400"/>
            <a:ext cx="3048000" cy="12700"/>
          </a:xfrm>
          <a:prstGeom prst="rect">
            <a:avLst/>
          </a:prstGeom>
          <a:solidFill>
            <a:srgbClr val="AECBFA"/>
          </a:solidFill>
          <a:ln>
            <a:noFill/>
          </a:ln>
        </p:spPr>
      </p:sp>
      <p:sp>
        <p:nvSpPr>
          <p:cNvPr id="21" name="Box 21"/>
          <p:cNvSpPr txBox="1"/>
          <p:nvPr/>
        </p:nvSpPr>
        <p:spPr>
          <a:xfrm>
            <a:off x="8305800" y="53594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137333"/>
                </a:solidFill>
                <a:latin typeface="Google Sans Mono"/>
                <a:cs typeface="Google Sans Mono"/>
              </a:rPr>
              <a:t>Result: Zero fork + 100% enforcement</a:t>
            </a:r>
          </a:p>
        </p:txBody>
      </p:sp>
      <p:sp>
        <p:nvSpPr>
          <p:cNvPr id="22" name="Rect 22"/>
          <p:cNvSpPr/>
          <p:nvPr/>
        </p:nvSpPr>
        <p:spPr>
          <a:xfrm>
            <a:off x="609600" y="6248400"/>
            <a:ext cx="10972800" cy="12700"/>
          </a:xfrm>
          <a:prstGeom prst="rect">
            <a:avLst/>
          </a:prstGeom>
          <a:solidFill>
            <a:srgbClr val="DADCE0"/>
          </a:solidFill>
          <a:ln>
            <a:noFill/>
          </a:ln>
        </p:spPr>
      </p:sp>
      <p:sp>
        <p:nvSpPr>
          <p:cNvPr id="23" name="Box 23"/>
          <p:cNvSpPr txBox="1"/>
          <p:nvPr/>
        </p:nvSpPr>
        <p:spPr>
          <a:xfrm>
            <a:off x="609600" y="6324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5F6368"/>
                </a:solidFill>
                <a:latin typeface="Google Sans Text"/>
                <a:cs typeface="Google Sans Text"/>
              </a:rPr>
              <a:t>Distributed directly via Git repositories with zero external registry required</a:t>
            </a:r>
          </a:p>
        </p:txBody>
      </p:sp>
      <p:sp>
        <p:nvSpPr>
          <p:cNvPr id="24" name="Box 24"/>
          <p:cNvSpPr txBox="1"/>
          <p:nvPr/>
        </p:nvSpPr>
        <p:spPr>
          <a:xfrm>
            <a:off x="7747000" y="63246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1" dirty="0">
                <a:solidFill>
                  <a:srgbClr val="5F6368"/>
                </a:solidFill>
                <a:latin typeface="Google Sans Mono"/>
                <a:cs typeface="Google Sans Mono"/>
              </a:rPr>
              <a:t>schema: agents-cli-extension/v1alpha1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8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8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8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8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8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8" grpId="0"/>
      <p:bldP spid="9" grpId="0"/>
      <p:bldP spid="11" grpId="0"/>
      <p:bldP spid="13" grpId="0"/>
      <p:bldP spid="14" grpId="0"/>
      <p:bldP spid="16" grpId="0"/>
      <p:bldP spid="18" grpId="0"/>
      <p:bldP spid="19" grpId="0"/>
      <p:bldP spid="21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ar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3" name="Box 3"/>
          <p:cNvSpPr txBox="1"/>
          <p:nvPr/>
        </p:nvSpPr>
        <p:spPr>
          <a:xfrm>
            <a:off x="609600" y="2540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137333"/>
                </a:solidFill>
                <a:latin typeface="Google Sans"/>
                <a:cs typeface="Google Sans"/>
              </a:rPr>
              <a:t>INSIDE THE COMMAND SURFACE (6 VS. 18 SPLIT)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10795000" y="2540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0" dirty="0">
                <a:solidFill>
                  <a:srgbClr val="5F6368"/>
                </a:solidFill>
                <a:latin typeface="Google Sans Mono"/>
                <a:cs typeface="Google Sans Mono"/>
              </a:rPr>
              <a:t>04 / 10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2600" b="1" dirty="0">
                <a:solidFill>
                  <a:srgbClr val="202124"/>
                </a:solidFill>
                <a:latin typeface="Google Sans Display"/>
                <a:cs typeface="Google Sans Display"/>
              </a:rPr>
              <a:t>One unified command surface across the stack.</a:t>
            </a:r>
          </a:p>
        </p:txBody>
      </p:sp>
      <p:sp>
        <p:nvSpPr>
          <p:cNvPr id="6" name="Box 6"/>
          <p:cNvSpPr txBox="1"/>
          <p:nvPr/>
        </p:nvSpPr>
        <p:spPr>
          <a:xfrm>
            <a:off x="609600" y="10414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250" b="0" dirty="0">
                <a:solidFill>
                  <a:srgbClr val="5F6368"/>
                </a:solidFill>
                <a:latin typeface="Google Sans Text"/>
                <a:cs typeface="Google Sans Text"/>
              </a:rPr>
              <a:t>A single agents-cli-extension.yaml swaps only the 6 runtime commands and keeps the 18 production commands intact.</a:t>
            </a:r>
          </a:p>
        </p:txBody>
      </p:sp>
      <p:sp>
        <p:nvSpPr>
          <p:cNvPr id="7" name="Rect 7"/>
          <p:cNvSpPr/>
          <p:nvPr/>
        </p:nvSpPr>
        <p:spPr>
          <a:xfrm>
            <a:off x="609600" y="1549400"/>
            <a:ext cx="10972800" cy="1168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</p:spPr>
      </p:sp>
      <p:sp>
        <p:nvSpPr>
          <p:cNvPr id="8" name="Box 8"/>
          <p:cNvSpPr txBox="1"/>
          <p:nvPr/>
        </p:nvSpPr>
        <p:spPr>
          <a:xfrm>
            <a:off x="812800" y="1651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00" b="1" dirty="0">
                <a:solidFill>
                  <a:srgbClr val="5F6368"/>
                </a:solidFill>
                <a:latin typeface="Google Sans"/>
                <a:cs typeface="Google Sans"/>
              </a:rPr>
              <a:t>1. AGENT AUTHORING LAYER (BRING YOUR OWN FRAMEWORK)</a:t>
            </a:r>
          </a:p>
        </p:txBody>
      </p:sp>
      <p:sp>
        <p:nvSpPr>
          <p:cNvPr id="9" name="Box 9"/>
          <p:cNvSpPr txBox="1"/>
          <p:nvPr/>
        </p:nvSpPr>
        <p:spPr>
          <a:xfrm>
            <a:off x="812800" y="1981200"/>
            <a:ext cx="2514600" cy="53340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txBody>
          <a:bodyPr wrap="square" lIns="152400" tIns="127000" rIns="152400" bIns="127000" anchor="ctr"/>
          <a:lstStyle/>
          <a:p>
            <a:pPr algn="c">
              <a:lnSpc>
                <a:spcPct val="118000"/>
              </a:lnSpc>
            </a:pPr>
            <a:r>
              <a:rPr lang="en-US" sz="1050" b="1" dirty="0">
                <a:solidFill>
                  <a:srgbClr val="1967D2"/>
                </a:solidFill>
                <a:latin typeface="Google Sans"/>
                <a:cs typeface="Google Sans"/>
              </a:rPr>
              <a:t>LangChain 1.0+</a:t>
            </a:r>
          </a:p>
        </p:txBody>
      </p:sp>
      <p:sp>
        <p:nvSpPr>
          <p:cNvPr id="10" name="Box 10"/>
          <p:cNvSpPr txBox="1"/>
          <p:nvPr/>
        </p:nvSpPr>
        <p:spPr>
          <a:xfrm>
            <a:off x="3479800" y="1981200"/>
            <a:ext cx="2514600" cy="53340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txBody>
          <a:bodyPr wrap="square" lIns="152400" tIns="127000" rIns="152400" bIns="127000" anchor="ctr"/>
          <a:lstStyle/>
          <a:p>
            <a:pPr algn="c">
              <a:lnSpc>
                <a:spcPct val="118000"/>
              </a:lnSpc>
            </a:pPr>
            <a:r>
              <a:rPr lang="en-US" sz="1050" b="1" dirty="0">
                <a:solidFill>
                  <a:srgbClr val="1967D2"/>
                </a:solidFill>
                <a:latin typeface="Google Sans"/>
                <a:cs typeface="Google Sans"/>
              </a:rPr>
              <a:t>LangGraph StateGraph</a:t>
            </a:r>
          </a:p>
        </p:txBody>
      </p:sp>
      <p:sp>
        <p:nvSpPr>
          <p:cNvPr id="11" name="Box 11"/>
          <p:cNvSpPr txBox="1"/>
          <p:nvPr/>
        </p:nvSpPr>
        <p:spPr>
          <a:xfrm>
            <a:off x="6146800" y="1981200"/>
            <a:ext cx="2514600" cy="533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txBody>
          <a:bodyPr wrap="square" lIns="152400" tIns="127000" rIns="152400" bIns="127000" anchor="ctr"/>
          <a:lstStyle/>
          <a:p>
            <a:pPr algn="c">
              <a:lnSpc>
                <a:spcPct val="118000"/>
              </a:lnSpc>
            </a:pPr>
            <a:r>
              <a:rPr lang="en-US" sz="1050" b="1" dirty="0">
                <a:solidFill>
                  <a:srgbClr val="202124"/>
                </a:solidFill>
                <a:latin typeface="Google Sans"/>
                <a:cs typeface="Google Sans"/>
              </a:rPr>
              <a:t>Deep Agents</a:t>
            </a:r>
          </a:p>
        </p:txBody>
      </p:sp>
      <p:sp>
        <p:nvSpPr>
          <p:cNvPr id="12" name="Box 12"/>
          <p:cNvSpPr txBox="1"/>
          <p:nvPr/>
        </p:nvSpPr>
        <p:spPr>
          <a:xfrm>
            <a:off x="8813800" y="1981200"/>
            <a:ext cx="2514600" cy="533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txBody>
          <a:bodyPr wrap="square" lIns="152400" tIns="127000" rIns="152400" bIns="127000" anchor="ctr"/>
          <a:lstStyle/>
          <a:p>
            <a:pPr algn="c">
              <a:lnSpc>
                <a:spcPct val="118000"/>
              </a:lnSpc>
            </a:pPr>
            <a:r>
              <a:rPr lang="en-US" sz="1050" b="1" dirty="0">
                <a:solidFill>
                  <a:srgbClr val="202124"/>
                </a:solidFill>
                <a:latin typeface="Google Sans"/>
                <a:cs typeface="Google Sans"/>
              </a:rPr>
              <a:t>Google ADK (Python / Go)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609600" y="2870200"/>
            <a:ext cx="5384800" cy="17780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25400">
            <a:solidFill>
              <a:srgbClr val="4285F4"/>
            </a:solidFill>
          </a:ln>
        </p:spPr>
        <p:txBody>
          <a:bodyPr wrap="square" lIns="228600" tIns="203200" rIns="228600" bIns="203200" anchor="t"/>
          <a:lstStyle/>
          <a:p>
            <a:pPr algn="l">
              <a:lnSpc>
                <a:spcPct val="118000"/>
              </a:lnSpc>
            </a:pPr>
            <a:r>
              <a:rPr lang="en-US" sz="1150" b="1" dirty="0">
                <a:solidFill>
                  <a:srgbClr val="1967D2"/>
                </a:solidFill>
                <a:latin typeface="Google Sans"/>
                <a:cs typeface="Google Sans"/>
              </a:rPr>
              <a:t>6 Overridden Runtime Commands</a:t>
            </a:r>
          </a:p>
          <a:p>
            <a:pPr algn="l">
              <a:lnSpc>
                <a:spcPct val="118000"/>
              </a:lnSpc>
            </a:pPr>
            <a:r>
              <a:rPr lang="en-US" sz="800" b="0" dirty="0">
                <a:solidFill>
                  <a:srgbClr val="3C4043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3C4043"/>
                </a:solidFill>
                <a:latin typeface="Google Sans Mono"/>
                <a:cs typeface="Google Sans Mono"/>
              </a:rPr>
              <a:t>run • playground (LangGraph Studio) • eval.generate • publish.gemini-enterprise • eval.dataset • eval.optimize</a:t>
            </a:r>
          </a:p>
        </p:txBody>
      </p:sp>
      <p:sp>
        <p:nvSpPr>
          <p:cNvPr id="14" name="Box 14"/>
          <p:cNvSpPr txBox="1"/>
          <p:nvPr/>
        </p:nvSpPr>
        <p:spPr>
          <a:xfrm>
            <a:off x="4470400" y="3022600"/>
            <a:ext cx="1320800" cy="3048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">
              <a:lnSpc>
                <a:spcPct val="118000"/>
              </a:lnSpc>
            </a:pPr>
            <a:r>
              <a:rPr lang="en-US" sz="900" b="1" dirty="0">
                <a:solidFill>
                  <a:srgbClr val="1967D2"/>
                </a:solidFill>
                <a:latin typeface="Google Sans Mono"/>
                <a:cs typeface="Google Sans Mono"/>
              </a:rPr>
              <a:t>[↑ langchain]</a:t>
            </a:r>
          </a:p>
        </p:txBody>
      </p:sp>
      <p:sp>
        <p:nvSpPr>
          <p:cNvPr id="15" name="Box 15"/>
          <p:cNvSpPr txBox="1"/>
          <p:nvPr/>
        </p:nvSpPr>
        <p:spPr>
          <a:xfrm>
            <a:off x="6197600" y="2870200"/>
            <a:ext cx="5384800" cy="1778000"/>
          </a:xfrm>
          <a:prstGeom prst="roundRect">
            <a:avLst>
              <a:gd name="adj" fmla="val 8000"/>
            </a:avLst>
          </a:prstGeom>
          <a:solidFill>
            <a:srgbClr val="F6FEF8"/>
          </a:solidFill>
          <a:ln w="25400">
            <a:solidFill>
              <a:srgbClr val="34A853"/>
            </a:solidFill>
          </a:ln>
        </p:spPr>
        <p:txBody>
          <a:bodyPr wrap="square" lIns="228600" tIns="203200" rIns="228600" bIns="203200" anchor="t"/>
          <a:lstStyle/>
          <a:p>
            <a:pPr algn="l">
              <a:lnSpc>
                <a:spcPct val="118000"/>
              </a:lnSpc>
            </a:pPr>
            <a:r>
              <a:rPr lang="en-US" sz="1150" b="1" dirty="0">
                <a:solidFill>
                  <a:srgbClr val="137333"/>
                </a:solidFill>
                <a:latin typeface="Google Sans"/>
                <a:cs typeface="Google Sans"/>
              </a:rPr>
              <a:t>18+ Native Production Commands</a:t>
            </a:r>
          </a:p>
          <a:p>
            <a:pPr algn="l">
              <a:lnSpc>
                <a:spcPct val="118000"/>
              </a:lnSpc>
            </a:pPr>
            <a:r>
              <a:rPr lang="en-US" sz="800" b="0" dirty="0">
                <a:solidFill>
                  <a:srgbClr val="3C4043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3C4043"/>
                </a:solidFill>
                <a:latin typeface="Google Sans Mono"/>
                <a:cs typeface="Google Sans Mono"/>
              </a:rPr>
              <a:t>deploy • eval grade • eval compare • infra (Terraform) • scaffold • extension • install • lint</a:t>
            </a:r>
          </a:p>
        </p:txBody>
      </p:sp>
      <p:sp>
        <p:nvSpPr>
          <p:cNvPr id="16" name="Box 16"/>
          <p:cNvSpPr txBox="1"/>
          <p:nvPr/>
        </p:nvSpPr>
        <p:spPr>
          <a:xfrm>
            <a:off x="10439400" y="3022600"/>
            <a:ext cx="939800" cy="304800"/>
          </a:xfrm>
          <a:prstGeom prst="roundRect">
            <a:avLst>
              <a:gd name="adj" fmla="val 25000"/>
            </a:avLst>
          </a:prstGeom>
          <a:solidFill>
            <a:srgbClr val="E6F4EA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 algn="c">
              <a:lnSpc>
                <a:spcPct val="118000"/>
              </a:lnSpc>
            </a:pPr>
            <a:r>
              <a:rPr lang="en-US" sz="900" b="1" dirty="0">
                <a:solidFill>
                  <a:srgbClr val="137333"/>
                </a:solidFill>
                <a:latin typeface="Google Sans Mono"/>
                <a:cs typeface="Google Sans Mono"/>
              </a:rPr>
              <a:t>Built-In</a:t>
            </a:r>
          </a:p>
        </p:txBody>
      </p:sp>
      <p:sp>
        <p:nvSpPr>
          <p:cNvPr id="17" name="Rect 17"/>
          <p:cNvSpPr/>
          <p:nvPr/>
        </p:nvSpPr>
        <p:spPr>
          <a:xfrm>
            <a:off x="609600" y="4800600"/>
            <a:ext cx="10972800" cy="1219200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>
            <a:noFill/>
          </a:ln>
        </p:spPr>
      </p:sp>
      <p:sp>
        <p:nvSpPr>
          <p:cNvPr id="18" name="Box 18"/>
          <p:cNvSpPr txBox="1"/>
          <p:nvPr/>
        </p:nvSpPr>
        <p:spPr>
          <a:xfrm>
            <a:off x="812800" y="49022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00" b="1" dirty="0">
                <a:solidFill>
                  <a:srgbClr val="8AB4F8"/>
                </a:solidFill>
                <a:latin typeface="Google Sans"/>
                <a:cs typeface="Google Sans"/>
              </a:rPr>
              <a:t>3. GOOGLE CLOUD PRODUCTION FOUNDATION</a:t>
            </a:r>
          </a:p>
        </p:txBody>
      </p:sp>
      <p:sp>
        <p:nvSpPr>
          <p:cNvPr id="19" name="Box 19"/>
          <p:cNvSpPr txBox="1"/>
          <p:nvPr/>
        </p:nvSpPr>
        <p:spPr>
          <a:xfrm>
            <a:off x="812800" y="5232400"/>
            <a:ext cx="2514600" cy="558800"/>
          </a:xfrm>
          <a:prstGeom prst="roundRect">
            <a:avLst>
              <a:gd name="adj" fmla="val 15000"/>
            </a:avLst>
          </a:prstGeom>
          <a:solidFill>
            <a:srgbClr val="2D3136"/>
          </a:solidFill>
          <a:ln>
            <a:noFill/>
          </a:ln>
        </p:spPr>
        <p:txBody>
          <a:bodyPr wrap="square" lIns="152400" tIns="127000" rIns="152400" bIns="127000" anchor="ctr"/>
          <a:lstStyle/>
          <a:p>
            <a:pPr algn="c">
              <a:lnSpc>
                <a:spcPct val="118000"/>
              </a:lnSpc>
            </a:pPr>
            <a:r>
              <a:rPr lang="en-US" sz="950" b="0" dirty="0">
                <a:solidFill>
                  <a:srgbClr val="FFFFFF"/>
                </a:solidFill>
                <a:latin typeface="Google Sans Mono"/>
                <a:cs typeface="Google Sans Mono"/>
              </a:rPr>
              <a:t>Cloud Run (FastAPI A2A)</a:t>
            </a:r>
          </a:p>
        </p:txBody>
      </p:sp>
      <p:sp>
        <p:nvSpPr>
          <p:cNvPr id="20" name="Box 20"/>
          <p:cNvSpPr txBox="1"/>
          <p:nvPr/>
        </p:nvSpPr>
        <p:spPr>
          <a:xfrm>
            <a:off x="3479800" y="5232400"/>
            <a:ext cx="2514600" cy="558800"/>
          </a:xfrm>
          <a:prstGeom prst="roundRect">
            <a:avLst>
              <a:gd name="adj" fmla="val 15000"/>
            </a:avLst>
          </a:prstGeom>
          <a:solidFill>
            <a:srgbClr val="2D3136"/>
          </a:solidFill>
          <a:ln>
            <a:noFill/>
          </a:ln>
        </p:spPr>
        <p:txBody>
          <a:bodyPr wrap="square" lIns="152400" tIns="127000" rIns="152400" bIns="127000" anchor="ctr"/>
          <a:lstStyle/>
          <a:p>
            <a:pPr algn="c">
              <a:lnSpc>
                <a:spcPct val="118000"/>
              </a:lnSpc>
            </a:pPr>
            <a:r>
              <a:rPr lang="en-US" sz="950" b="0" dirty="0">
                <a:solidFill>
                  <a:srgbClr val="FFFFFF"/>
                </a:solidFill>
                <a:latin typeface="Google Sans Mono"/>
                <a:cs typeface="Google Sans Mono"/>
              </a:rPr>
              <a:t>Vertex AI Eval Service</a:t>
            </a:r>
          </a:p>
        </p:txBody>
      </p:sp>
      <p:sp>
        <p:nvSpPr>
          <p:cNvPr id="21" name="Box 21"/>
          <p:cNvSpPr txBox="1"/>
          <p:nvPr/>
        </p:nvSpPr>
        <p:spPr>
          <a:xfrm>
            <a:off x="6146800" y="5232400"/>
            <a:ext cx="2514600" cy="558800"/>
          </a:xfrm>
          <a:prstGeom prst="roundRect">
            <a:avLst>
              <a:gd name="adj" fmla="val 15000"/>
            </a:avLst>
          </a:prstGeom>
          <a:solidFill>
            <a:srgbClr val="2D3136"/>
          </a:solidFill>
          <a:ln>
            <a:noFill/>
          </a:ln>
        </p:spPr>
        <p:txBody>
          <a:bodyPr wrap="square" lIns="152400" tIns="127000" rIns="152400" bIns="127000" anchor="ctr"/>
          <a:lstStyle/>
          <a:p>
            <a:pPr algn="c">
              <a:lnSpc>
                <a:spcPct val="118000"/>
              </a:lnSpc>
            </a:pPr>
            <a:r>
              <a:rPr lang="en-US" sz="950" b="0" dirty="0">
                <a:solidFill>
                  <a:srgbClr val="FFFFFF"/>
                </a:solidFill>
                <a:latin typeface="Google Sans Mono"/>
                <a:cs typeface="Google Sans Mono"/>
              </a:rPr>
              <a:t>Gemini on Vertex AI</a:t>
            </a:r>
          </a:p>
        </p:txBody>
      </p:sp>
      <p:sp>
        <p:nvSpPr>
          <p:cNvPr id="22" name="Box 22"/>
          <p:cNvSpPr txBox="1"/>
          <p:nvPr/>
        </p:nvSpPr>
        <p:spPr>
          <a:xfrm>
            <a:off x="8813800" y="5232400"/>
            <a:ext cx="2514600" cy="558800"/>
          </a:xfrm>
          <a:prstGeom prst="roundRect">
            <a:avLst>
              <a:gd name="adj" fmla="val 15000"/>
            </a:avLst>
          </a:prstGeom>
          <a:solidFill>
            <a:srgbClr val="2D3136"/>
          </a:solidFill>
          <a:ln>
            <a:noFill/>
          </a:ln>
        </p:spPr>
        <p:txBody>
          <a:bodyPr wrap="square" lIns="152400" tIns="127000" rIns="152400" bIns="127000" anchor="ctr"/>
          <a:lstStyle/>
          <a:p>
            <a:pPr algn="c">
              <a:lnSpc>
                <a:spcPct val="118000"/>
              </a:lnSpc>
            </a:pPr>
            <a:r>
              <a:rPr lang="en-US" sz="950" b="0" dirty="0">
                <a:solidFill>
                  <a:srgbClr val="FFFFFF"/>
                </a:solidFill>
                <a:latin typeface="Google Sans Mono"/>
                <a:cs typeface="Google Sans Mono"/>
              </a:rPr>
              <a:t>Cloud Trace &amp; Logging</a:t>
            </a:r>
          </a:p>
        </p:txBody>
      </p:sp>
      <p:sp>
        <p:nvSpPr>
          <p:cNvPr id="23" name="Rect 23"/>
          <p:cNvSpPr/>
          <p:nvPr/>
        </p:nvSpPr>
        <p:spPr>
          <a:xfrm>
            <a:off x="609600" y="6248400"/>
            <a:ext cx="10972800" cy="12700"/>
          </a:xfrm>
          <a:prstGeom prst="rect">
            <a:avLst/>
          </a:prstGeom>
          <a:solidFill>
            <a:srgbClr val="DADCE0"/>
          </a:solidFill>
          <a:ln>
            <a:noFill/>
          </a:ln>
        </p:spPr>
      </p:sp>
      <p:sp>
        <p:nvSpPr>
          <p:cNvPr id="24" name="Box 24"/>
          <p:cNvSpPr txBox="1"/>
          <p:nvPr/>
        </p:nvSpPr>
        <p:spPr>
          <a:xfrm>
            <a:off x="609600" y="6324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5F6368"/>
                </a:solidFill>
                <a:latin typeface="Google Sans Text"/>
                <a:cs typeface="Google Sans Text"/>
              </a:rPr>
              <a:t>Same Dockerfile CMD &amp; FastAPI A2A contract across every framework</a:t>
            </a:r>
          </a:p>
        </p:txBody>
      </p:sp>
      <p:sp>
        <p:nvSpPr>
          <p:cNvPr id="25" name="Box 25"/>
          <p:cNvSpPr txBox="1"/>
          <p:nvPr/>
        </p:nvSpPr>
        <p:spPr>
          <a:xfrm>
            <a:off x="7747000" y="63246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1" dirty="0">
                <a:solidFill>
                  <a:srgbClr val="5F6368"/>
                </a:solidFill>
                <a:latin typeface="Google Sans Mono"/>
                <a:cs typeface="Google Sans Mono"/>
              </a:rPr>
              <a:t>app.fast_api_app:app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8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8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8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8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8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8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8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80"/>
                            </p:stCondLst>
                            <p:childTnLst>
                              <p:par>
                                <p:cTn id="7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8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ar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3" name="Box 3"/>
          <p:cNvSpPr txBox="1"/>
          <p:nvPr/>
        </p:nvSpPr>
        <p:spPr>
          <a:xfrm>
            <a:off x="609600" y="2540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8AB4F8"/>
                </a:solidFill>
                <a:latin typeface="Google Sans"/>
                <a:cs typeface="Google Sans"/>
              </a:rPr>
              <a:t>LIVE DEMO  •  ACT 1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10795000" y="2540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Mono"/>
                <a:cs typeface="Google Sans Mono"/>
              </a:rPr>
              <a:t>05 / 10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26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Scaffold a pure LangGraph project in one command.</a:t>
            </a:r>
          </a:p>
        </p:txBody>
      </p:sp>
      <p:sp>
        <p:nvSpPr>
          <p:cNvPr id="6" name="Box 6"/>
          <p:cNvSpPr txBox="1"/>
          <p:nvPr/>
        </p:nvSpPr>
        <p:spPr>
          <a:xfrm>
            <a:off x="609600" y="10414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250" b="0" dirty="0">
                <a:solidFill>
                  <a:srgbClr val="BDC1C6"/>
                </a:solidFill>
                <a:latin typeface="Google Sans Text"/>
                <a:cs typeface="Google Sans Text"/>
              </a:rPr>
              <a:t>Scaffolding and extension installation happen together. Nothing needs to be installed globally.</a:t>
            </a:r>
          </a:p>
        </p:txBody>
      </p:sp>
      <p:sp>
        <p:nvSpPr>
          <p:cNvPr id="7" name="Rect 7"/>
          <p:cNvSpPr/>
          <p:nvPr/>
        </p:nvSpPr>
        <p:spPr>
          <a:xfrm>
            <a:off x="609600" y="1651000"/>
            <a:ext cx="10972800" cy="4318000"/>
          </a:xfrm>
          <a:prstGeom prst="roundRect">
            <a:avLst>
              <a:gd name="adj" fmla="val 6000"/>
            </a:avLst>
          </a:prstGeom>
          <a:solidFill>
            <a:srgbClr val="131314"/>
          </a:solidFill>
          <a:ln w="12700">
            <a:solidFill>
              <a:srgbClr val="3C4043"/>
            </a:solidFill>
          </a:ln>
        </p:spPr>
      </p:sp>
      <p:sp>
        <p:nvSpPr>
          <p:cNvPr id="8" name="Rect 8"/>
          <p:cNvSpPr/>
          <p:nvPr/>
        </p:nvSpPr>
        <p:spPr>
          <a:xfrm>
            <a:off x="609600" y="1651000"/>
            <a:ext cx="10972800" cy="406400"/>
          </a:xfrm>
          <a:prstGeom prst="roundRect">
            <a:avLst>
              <a:gd name="adj" fmla="val 6000"/>
            </a:avLst>
          </a:prstGeom>
          <a:solidFill>
            <a:srgbClr val="1E1F22"/>
          </a:solidFill>
          <a:ln w="12700">
            <a:solidFill>
              <a:srgbClr val="3C4043"/>
            </a:solidFill>
          </a:ln>
        </p:spPr>
      </p:sp>
      <p:sp>
        <p:nvSpPr>
          <p:cNvPr id="9" name="Rect 9"/>
          <p:cNvSpPr/>
          <p:nvPr/>
        </p:nvSpPr>
        <p:spPr>
          <a:xfrm>
            <a:off x="812800" y="17907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</p:sp>
      <p:sp>
        <p:nvSpPr>
          <p:cNvPr id="10" name="Rect 10"/>
          <p:cNvSpPr/>
          <p:nvPr/>
        </p:nvSpPr>
        <p:spPr>
          <a:xfrm>
            <a:off x="1016000" y="17907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11" name="Rect 11"/>
          <p:cNvSpPr/>
          <p:nvPr/>
        </p:nvSpPr>
        <p:spPr>
          <a:xfrm>
            <a:off x="1219200" y="17907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12" name="Box 12"/>
          <p:cNvSpPr txBox="1"/>
          <p:nvPr/>
        </p:nvSpPr>
        <p:spPr>
          <a:xfrm>
            <a:off x="1498600" y="17018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/>
          <a:lstStyle/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Mono"/>
                <a:cs typeface="Google Sans Mono"/>
              </a:rPr>
              <a:t>zsh — scalfod-langgraph-agentscli</a:t>
            </a:r>
          </a:p>
        </p:txBody>
      </p:sp>
      <p:sp>
        <p:nvSpPr>
          <p:cNvPr id="13" name="Box 13"/>
          <p:cNvSpPr txBox="1"/>
          <p:nvPr/>
        </p:nvSpPr>
        <p:spPr>
          <a:xfrm>
            <a:off x="863600" y="2209800"/>
            <a:ext cx="104648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8AB4F8"/>
                </a:solidFill>
                <a:latin typeface="Google Sans Mono"/>
                <a:cs typeface="Google Sans Mono"/>
              </a:rPr>
              <a:t># 1. Scaffold directly from the first-party LangChain template</a:t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E8EAED"/>
                </a:solidFill>
                <a:latin typeface="Google Sans Mono"/>
                <a:cs typeface="Google Sans Mono"/>
              </a:rPr>
              <a:t>$ agents-cli create scalfod-langgraph-agentscli \</a:t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E8EAED"/>
                </a:solidFill>
                <a:latin typeface="Google Sans Mono"/>
                <a:cs typeface="Google Sans Mono"/>
              </a:rPr>
              <a:t>    --agent google/agents-cli/extensions/langchain/template@v1.8.0 \</a:t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E8EAED"/>
                </a:solidFill>
                <a:latin typeface="Google Sans Mono"/>
                <a:cs typeface="Google Sans Mono"/>
              </a:rPr>
              <a:t>    -d cloud_run</a:t>
            </a:r>
          </a:p>
        </p:txBody>
      </p:sp>
      <p:sp>
        <p:nvSpPr>
          <p:cNvPr id="14" name="Box 14"/>
          <p:cNvSpPr txBox="1"/>
          <p:nvPr/>
        </p:nvSpPr>
        <p:spPr>
          <a:xfrm>
            <a:off x="863600" y="3505200"/>
            <a:ext cx="104648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E8EAED"/>
                </a:solidFill>
                <a:latin typeface="Google Sans Mono"/>
                <a:cs typeface="Google Sans Mono"/>
              </a:rPr>
              <a:t>$ cd scalfod-langgraph-agentscli &amp;&amp; agents-cli install</a:t>
            </a:r>
          </a:p>
          <a:p>
            <a:pPr algn="l">
              <a:lnSpc>
                <a:spcPct val="118000"/>
              </a:lnSpc>
            </a:pPr>
            <a:r>
              <a:rPr lang="en-US" sz="1050" b="0" dirty="0">
                <a:solidFill>
                  <a:srgbClr val="81C995"/>
                </a:solidFill>
                <a:latin typeface="Google Sans Mono"/>
                <a:cs typeface="Google Sans Mono"/>
              </a:rPr>
              <a:t>Agents CLI v1.8.0 • Fetching remote template: google/agents-cli/extensions/langchain/template@v1.8.0</a:t>
            </a:r>
          </a:p>
          <a:p>
            <a:pPr algn="l">
              <a:lnSpc>
                <a:spcPct val="118000"/>
              </a:lnSpc>
            </a:pPr>
            <a:r>
              <a:rPr lang="en-US" sz="1050" b="1" dirty="0">
                <a:solidFill>
                  <a:srgbClr val="81C995"/>
                </a:solidFill>
                <a:latin typeface="Google Sans Mono"/>
                <a:cs typeface="Google Sans Mono"/>
              </a:rPr>
              <a:t>&gt; ✓ Connected to project: your-project • Your agent project is ready.</a:t>
            </a:r>
          </a:p>
        </p:txBody>
      </p:sp>
      <p:sp>
        <p:nvSpPr>
          <p:cNvPr id="15" name="Box 15"/>
          <p:cNvSpPr txBox="1"/>
          <p:nvPr/>
        </p:nvSpPr>
        <p:spPr>
          <a:xfrm>
            <a:off x="863600" y="4648200"/>
            <a:ext cx="104648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8AB4F8"/>
                </a:solidFill>
                <a:latin typeface="Google Sans Mono"/>
                <a:cs typeface="Google Sans Mono"/>
              </a:rPr>
              <a:t># 2. Prove zero google-adk dependency in pyproject.toml and app/</a:t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E8EAED"/>
                </a:solidFill>
                <a:latin typeface="Google Sans Mono"/>
                <a:cs typeface="Google Sans Mono"/>
              </a:rPr>
              <a:t>$ grep -r "google.adk\|google-adk" pyproject.toml app/ ; echo "exit: $?"</a:t>
            </a:r>
          </a:p>
          <a:p>
            <a:pPr algn="l">
              <a:lnSpc>
                <a:spcPct val="118000"/>
              </a:lnSpc>
            </a:pPr>
            <a:r>
              <a:rPr lang="en-US" sz="1100" b="1" dirty="0">
                <a:solidFill>
                  <a:srgbClr val="FDD663"/>
                </a:solidFill>
                <a:latin typeface="Google Sans Mono"/>
                <a:cs typeface="Google Sans Mono"/>
              </a:rPr>
              <a:t>exit: 1   # Zero google-adk dependency verified!</a:t>
            </a:r>
          </a:p>
        </p:txBody>
      </p:sp>
      <p:sp>
        <p:nvSpPr>
          <p:cNvPr id="16" name="Rect 16"/>
          <p:cNvSpPr/>
          <p:nvPr/>
        </p:nvSpPr>
        <p:spPr>
          <a:xfrm>
            <a:off x="609600" y="6248400"/>
            <a:ext cx="10972800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</p:sp>
      <p:sp>
        <p:nvSpPr>
          <p:cNvPr id="17" name="Box 17"/>
          <p:cNvSpPr txBox="1"/>
          <p:nvPr/>
        </p:nvSpPr>
        <p:spPr>
          <a:xfrm>
            <a:off x="609600" y="6324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Text"/>
                <a:cs typeface="Google Sans Text"/>
              </a:rPr>
              <a:t>Auto-loaded via ./agents-cli-extension.yaml at project root</a:t>
            </a:r>
          </a:p>
        </p:txBody>
      </p:sp>
      <p:sp>
        <p:nvSpPr>
          <p:cNvPr id="18" name="Box 18"/>
          <p:cNvSpPr txBox="1"/>
          <p:nvPr/>
        </p:nvSpPr>
        <p:spPr>
          <a:xfrm>
            <a:off x="7747000" y="63246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1" dirty="0">
                <a:solidFill>
                  <a:srgbClr val="81C995"/>
                </a:solidFill>
                <a:latin typeface="Google Sans Mono"/>
                <a:cs typeface="Google Sans Mono"/>
              </a:rPr>
              <a:t>Zero ADK Dependency Verified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12" grpId="0"/>
      <p:bldP spid="13" grpId="0"/>
      <p:bldP spid="14" grpId="0"/>
      <p:bldP spid="15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ar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3" name="Box 3"/>
          <p:cNvSpPr txBox="1"/>
          <p:nvPr/>
        </p:nvSpPr>
        <p:spPr>
          <a:xfrm>
            <a:off x="609600" y="2540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B06000"/>
                </a:solidFill>
                <a:latin typeface="Google Sans"/>
                <a:cs typeface="Google Sans"/>
              </a:rPr>
              <a:t>CODEBASE ARCHITECTURE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10795000" y="2540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0" dirty="0">
                <a:solidFill>
                  <a:srgbClr val="5F6368"/>
                </a:solidFill>
                <a:latin typeface="Google Sans Mono"/>
                <a:cs typeface="Google Sans Mono"/>
              </a:rPr>
              <a:t>06 / 10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2600" b="1" dirty="0">
                <a:solidFill>
                  <a:srgbClr val="202124"/>
                </a:solidFill>
                <a:latin typeface="Google Sans Display"/>
                <a:cs typeface="Google Sans Display"/>
              </a:rPr>
              <a:t>One graph representation: CompiledStateGraph</a:t>
            </a:r>
          </a:p>
        </p:txBody>
      </p:sp>
      <p:sp>
        <p:nvSpPr>
          <p:cNvPr id="6" name="Box 6"/>
          <p:cNvSpPr txBox="1"/>
          <p:nvPr/>
        </p:nvSpPr>
        <p:spPr>
          <a:xfrm>
            <a:off x="609600" y="10414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250" b="0" dirty="0">
                <a:solidFill>
                  <a:srgbClr val="5F6368"/>
                </a:solidFill>
                <a:latin typeface="Google Sans Text"/>
                <a:cs typeface="Google Sans Text"/>
              </a:rPr>
              <a:t>In LangChain 1.0+, create_agent compiles directly into a LangGraph CompiledStateGraph.</a:t>
            </a:r>
          </a:p>
        </p:txBody>
      </p:sp>
      <p:sp>
        <p:nvSpPr>
          <p:cNvPr id="7" name="Box 7"/>
          <p:cNvSpPr txBox="1"/>
          <p:nvPr/>
        </p:nvSpPr>
        <p:spPr>
          <a:xfrm>
            <a:off x="609600" y="1651000"/>
            <a:ext cx="5334000" cy="4318000"/>
          </a:xfrm>
          <a:prstGeom prst="roundRect">
            <a:avLst>
              <a:gd name="adj" fmla="val 4500"/>
            </a:avLst>
          </a:prstGeom>
          <a:solidFill>
            <a:srgbClr val="131314"/>
          </a:solidFill>
          <a:ln w="12700">
            <a:solidFill>
              <a:srgbClr val="3C4043"/>
            </a:solidFill>
          </a:ln>
        </p:spPr>
        <p:txBody>
          <a:bodyPr wrap="square" lIns="228600" tIns="203200" rIns="228600" bIns="203200" anchor="t"/>
          <a:lstStyle/>
          <a:p>
            <a:pPr algn="l">
              <a:lnSpc>
                <a:spcPct val="118000"/>
              </a:lnSpc>
            </a:pPr>
            <a:r>
              <a:rPr lang="en-US" sz="1100" b="1" dirty="0">
                <a:solidFill>
                  <a:srgbClr val="8AB4F8"/>
                </a:solidFill>
                <a:latin typeface="Google Sans"/>
                <a:cs typeface="Google Sans"/>
              </a:rPr>
              <a:t>Project Tree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scalfod-langgraph-agentscli/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├── </a:t>
            </a:r>
            <a:r>
              <a:rPr lang="en-US" sz="1000" b="1" dirty="0">
                <a:solidFill>
                  <a:srgbClr val="FDD663"/>
                </a:solidFill>
                <a:latin typeface="Google Sans Mono"/>
                <a:cs typeface="Google Sans Mono"/>
              </a:rPr>
              <a:t>agents-cli-extension.yaml</a:t>
            </a:r>
            <a:r>
              <a:rPr lang="en-US" sz="1000" b="0" dirty="0">
                <a:solidFill>
                  <a:srgbClr val="9AA0A6"/>
                </a:solidFill>
                <a:latin typeface="Google Sans Mono"/>
                <a:cs typeface="Google Sans Mono"/>
              </a:rPr>
              <a:t>  # Overrides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├── agents-cli-manifest.yaml   # cloud_run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├── </a:t>
            </a:r>
            <a:r>
              <a:rPr lang="en-US" sz="1000" b="1" dirty="0">
                <a:solidFill>
                  <a:srgbClr val="FDD663"/>
                </a:solidFill>
                <a:latin typeface="Google Sans Mono"/>
                <a:cs typeface="Google Sans Mono"/>
              </a:rPr>
              <a:t>langgraph.json</a:t>
            </a:r>
            <a:r>
              <a:rPr lang="en-US" sz="1000" b="0" dirty="0">
                <a:solidFill>
                  <a:srgbClr val="9AA0A6"/>
                </a:solidFill>
                <a:latin typeface="Google Sans Mono"/>
                <a:cs typeface="Google Sans Mono"/>
              </a:rPr>
              <a:t>             # Studio config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├── pyproject.toml             # langchain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├── Dockerfile                 # FastAPI :8080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├── app/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│   ├── </a:t>
            </a:r>
            <a:r>
              <a:rPr lang="en-US" sz="1000" b="1" dirty="0">
                <a:solidFill>
                  <a:srgbClr val="81C995"/>
                </a:solidFill>
                <a:latin typeface="Google Sans Mono"/>
                <a:cs typeface="Google Sans Mono"/>
              </a:rPr>
              <a:t>agent.py</a:t>
            </a:r>
            <a:r>
              <a:rPr lang="en-US" sz="1000" b="0" dirty="0">
                <a:solidFill>
                  <a:srgbClr val="9AA0A6"/>
                </a:solidFill>
                <a:latin typeface="Google Sans Mono"/>
                <a:cs typeface="Google Sans Mono"/>
              </a:rPr>
              <a:t>               # StateGraph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│   ├── </a:t>
            </a:r>
            <a:r>
              <a:rPr lang="en-US" sz="1000" b="1" dirty="0">
                <a:solidFill>
                  <a:srgbClr val="81C995"/>
                </a:solidFill>
                <a:latin typeface="Google Sans Mono"/>
                <a:cs typeface="Google Sans Mono"/>
              </a:rPr>
              <a:t>tools.py</a:t>
            </a:r>
            <a:r>
              <a:rPr lang="en-US" sz="1000" b="0" dirty="0">
                <a:solidFill>
                  <a:srgbClr val="9AA0A6"/>
                </a:solidFill>
                <a:latin typeface="Google Sans Mono"/>
                <a:cs typeface="Google Sans Mono"/>
              </a:rPr>
              <a:t>               # DeepCite tools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│   ├── fast_api_app.py        # A2A server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│   └── app_utils/a2a.py       # agent.json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└── extensions/sbom-deploy/    # SBOM gate</a:t>
            </a:r>
          </a:p>
        </p:txBody>
      </p:sp>
      <p:sp>
        <p:nvSpPr>
          <p:cNvPr id="8" name="Box 8"/>
          <p:cNvSpPr txBox="1"/>
          <p:nvPr/>
        </p:nvSpPr>
        <p:spPr>
          <a:xfrm>
            <a:off x="6248400" y="1651000"/>
            <a:ext cx="5334000" cy="4318000"/>
          </a:xfrm>
          <a:prstGeom prst="roundRect">
            <a:avLst>
              <a:gd name="adj" fmla="val 4500"/>
            </a:avLst>
          </a:prstGeom>
          <a:solidFill>
            <a:srgbClr val="131314"/>
          </a:solidFill>
          <a:ln w="12700">
            <a:solidFill>
              <a:srgbClr val="3C4043"/>
            </a:solidFill>
          </a:ln>
        </p:spPr>
        <p:txBody>
          <a:bodyPr wrap="square" lIns="228600" tIns="203200" rIns="228600" bIns="203200" anchor="t"/>
          <a:lstStyle/>
          <a:p>
            <a:pPr algn="l">
              <a:lnSpc>
                <a:spcPct val="118000"/>
              </a:lnSpc>
            </a:pPr>
            <a:r>
              <a:rPr lang="en-US" sz="1100" b="1" dirty="0">
                <a:solidFill>
                  <a:srgbClr val="81C995"/>
                </a:solidFill>
                <a:latin typeface="Google Sans"/>
                <a:cs typeface="Google Sans"/>
              </a:rPr>
              <a:t>app/agent.py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8AB4F8"/>
                </a:solidFill>
                <a:latin typeface="Google Sans Mono"/>
                <a:cs typeface="Google Sans Mono"/>
              </a:rPr>
              <a:t>from langchain.agents import create_agent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8AB4F8"/>
                </a:solidFill>
                <a:latin typeface="Google Sans Mono"/>
                <a:cs typeface="Google Sans Mono"/>
              </a:rPr>
              <a:t>from langchain_google_genai import ChatGoogleGenerativeAI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8AB4F8"/>
                </a:solidFill>
                <a:latin typeface="Google Sans Mono"/>
                <a:cs typeface="Google Sans Mono"/>
              </a:rPr>
              <a:t>from langgraph.graph.state import CompiledStateGraph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llm = ChatGoogleGenerativeAI(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FDD663"/>
                </a:solidFill>
                <a:latin typeface="Google Sans Mono"/>
                <a:cs typeface="Google Sans Mono"/>
              </a:rPr>
              <a:t>    model="gemini-2.5-flash", temperature=0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)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1" dirty="0">
                <a:solidFill>
                  <a:srgbClr val="81C995"/>
                </a:solidFill>
                <a:latin typeface="Google Sans Mono"/>
                <a:cs typeface="Google Sans Mono"/>
              </a:rPr>
              <a:t>root_agent: CompiledStateGraph = create_agent(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    model=llm,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    tools=[create_research_plan, search_curated_kb,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           search_arxiv_papers, critique_research_draft],</a:t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E8EAED"/>
                </a:solidFill>
                <a:latin typeface="Google Sans Mono"/>
                <a:cs typeface="Google Sans Mono"/>
              </a:rPr>
              <a:t>    system_prompt=SYSTEM_PROMPT,</a:t>
            </a:r>
          </a:p>
          <a:p>
            <a:pPr algn="l">
              <a:lnSpc>
                <a:spcPct val="118000"/>
              </a:lnSpc>
            </a:pPr>
            <a:r>
              <a:rPr lang="en-US" sz="1000" b="1" dirty="0">
                <a:solidFill>
                  <a:srgbClr val="81C995"/>
                </a:solidFill>
                <a:latin typeface="Google Sans Mono"/>
                <a:cs typeface="Google Sans Mono"/>
              </a:rPr>
              <a:t>)</a:t>
            </a:r>
          </a:p>
        </p:txBody>
      </p:sp>
      <p:sp>
        <p:nvSpPr>
          <p:cNvPr id="9" name="Rect 9"/>
          <p:cNvSpPr/>
          <p:nvPr/>
        </p:nvSpPr>
        <p:spPr>
          <a:xfrm>
            <a:off x="609600" y="6248400"/>
            <a:ext cx="10972800" cy="12700"/>
          </a:xfrm>
          <a:prstGeom prst="rect">
            <a:avLst/>
          </a:prstGeom>
          <a:solidFill>
            <a:srgbClr val="DADCE0"/>
          </a:solidFill>
          <a:ln>
            <a:noFill/>
          </a:ln>
        </p:spPr>
      </p:sp>
      <p:sp>
        <p:nvSpPr>
          <p:cNvPr id="10" name="Box 10"/>
          <p:cNvSpPr txBox="1"/>
          <p:nvPr/>
        </p:nvSpPr>
        <p:spPr>
          <a:xfrm>
            <a:off x="609600" y="6324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5F6368"/>
                </a:solidFill>
                <a:latin typeface="Google Sans Text"/>
                <a:cs typeface="Google Sans Text"/>
              </a:rPr>
              <a:t>Authenticates automatically via Application Default Credentials (ADC) on Vertex AI</a:t>
            </a:r>
          </a:p>
        </p:txBody>
      </p:sp>
      <p:sp>
        <p:nvSpPr>
          <p:cNvPr id="11" name="Box 11"/>
          <p:cNvSpPr txBox="1"/>
          <p:nvPr/>
        </p:nvSpPr>
        <p:spPr>
          <a:xfrm>
            <a:off x="7747000" y="63246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1" dirty="0">
                <a:solidFill>
                  <a:srgbClr val="5F6368"/>
                </a:solidFill>
                <a:latin typeface="Google Sans Mono"/>
                <a:cs typeface="Google Sans Mono"/>
              </a:rPr>
              <a:t>GOOGLE_GENAI_USE_VERTEXAI=True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ar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3" name="Box 3"/>
          <p:cNvSpPr txBox="1"/>
          <p:nvPr/>
        </p:nvSpPr>
        <p:spPr>
          <a:xfrm>
            <a:off x="609600" y="2540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1A73E8"/>
                </a:solidFill>
                <a:latin typeface="Google Sans"/>
                <a:cs typeface="Google Sans"/>
              </a:rPr>
              <a:t>DEEPCITE REFERENCE WORKLOAD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10795000" y="2540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0" dirty="0">
                <a:solidFill>
                  <a:srgbClr val="5F6368"/>
                </a:solidFill>
                <a:latin typeface="Google Sans Mono"/>
                <a:cs typeface="Google Sans Mono"/>
              </a:rPr>
              <a:t>07 / 10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2600" b="1" dirty="0">
                <a:solidFill>
                  <a:srgbClr val="202124"/>
                </a:solidFill>
                <a:latin typeface="Google Sans Display"/>
                <a:cs typeface="Google Sans Display"/>
              </a:rPr>
              <a:t>Iterative Research &amp; Self-Critique Loop</a:t>
            </a:r>
          </a:p>
        </p:txBody>
      </p:sp>
      <p:sp>
        <p:nvSpPr>
          <p:cNvPr id="6" name="Box 6"/>
          <p:cNvSpPr txBox="1"/>
          <p:nvPr/>
        </p:nvSpPr>
        <p:spPr>
          <a:xfrm>
            <a:off x="609600" y="10414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250" b="0" dirty="0">
                <a:solidFill>
                  <a:srgbClr val="5F6368"/>
                </a:solidFill>
                <a:latin typeface="Google Sans Text"/>
                <a:cs typeface="Google Sans Text"/>
              </a:rPr>
              <a:t>Grounded retrieval and mandatory citation verification before generating the final technical report:</a:t>
            </a:r>
          </a:p>
        </p:txBody>
      </p:sp>
      <p:sp>
        <p:nvSpPr>
          <p:cNvPr id="7" name="Box 7"/>
          <p:cNvSpPr txBox="1"/>
          <p:nvPr/>
        </p:nvSpPr>
        <p:spPr>
          <a:xfrm>
            <a:off x="609600" y="1727200"/>
            <a:ext cx="2590800" cy="4191000"/>
          </a:xfrm>
          <a:prstGeom prst="roundRect">
            <a:avLst>
              <a:gd name="adj" fmla="val 45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txBody>
          <a:bodyPr wrap="square" lIns="203200" tIns="279400" rIns="203200" bIns="203200" anchor="t"/>
          <a:lstStyle/>
          <a:p>
            <a:pPr algn="l">
              <a:lnSpc>
                <a:spcPct val="118000"/>
              </a:lnSpc>
            </a:pPr>
            <a:r>
              <a:rPr lang="en-US" sz="1000" b="1" dirty="0">
                <a:solidFill>
                  <a:srgbClr val="1A73E8"/>
                </a:solidFill>
                <a:latin typeface="Google Sans"/>
                <a:cs typeface="Google Sans"/>
              </a:rPr>
              <a:t>01 • PLAN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202124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1" dirty="0">
                <a:solidFill>
                  <a:srgbClr val="202124"/>
                </a:solidFill>
                <a:latin typeface="Google Sans Mono"/>
                <a:cs typeface="Google Sans Mono"/>
              </a:rPr>
              <a:t>create_research_plan</a:t>
            </a:r>
          </a:p>
          <a:p>
            <a:pPr algn="l">
              <a:lnSpc>
                <a:spcPct val="118000"/>
              </a:lnSpc>
            </a:pPr>
            <a:r>
              <a:rPr lang="en-US" sz="800" b="0" dirty="0">
                <a:solidFill>
                  <a:srgbClr val="5F6368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5F6368"/>
                </a:solidFill>
                <a:latin typeface="Google Sans Text"/>
                <a:cs typeface="Google Sans Text"/>
              </a:rPr>
              <a:t>Decomposes complex prompts into structured sub-questions and targeted search queries.</a:t>
            </a:r>
          </a:p>
        </p:txBody>
      </p:sp>
      <p:sp>
        <p:nvSpPr>
          <p:cNvPr id="8" name="Rect 8"/>
          <p:cNvSpPr/>
          <p:nvPr/>
        </p:nvSpPr>
        <p:spPr>
          <a:xfrm>
            <a:off x="635000" y="1727200"/>
            <a:ext cx="25400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9" name="Box 9"/>
          <p:cNvSpPr txBox="1"/>
          <p:nvPr/>
        </p:nvSpPr>
        <p:spPr>
          <a:xfrm>
            <a:off x="3403600" y="1727200"/>
            <a:ext cx="2590800" cy="4191000"/>
          </a:xfrm>
          <a:prstGeom prst="roundRect">
            <a:avLst>
              <a:gd name="adj" fmla="val 45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txBody>
          <a:bodyPr wrap="square" lIns="203200" tIns="279400" rIns="203200" bIns="203200" anchor="t"/>
          <a:lstStyle/>
          <a:p>
            <a:pPr algn="l">
              <a:lnSpc>
                <a:spcPct val="118000"/>
              </a:lnSpc>
            </a:pPr>
            <a:r>
              <a:rPr lang="en-US" sz="1000" b="1" dirty="0">
                <a:solidFill>
                  <a:srgbClr val="B06000"/>
                </a:solidFill>
                <a:latin typeface="Google Sans"/>
                <a:cs typeface="Google Sans"/>
              </a:rPr>
              <a:t>02 • SEARCH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202124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1" dirty="0">
                <a:solidFill>
                  <a:srgbClr val="202124"/>
                </a:solidFill>
                <a:latin typeface="Google Sans Mono"/>
                <a:cs typeface="Google Sans Mono"/>
              </a:rPr>
              <a:t>search_curated_kb / arxiv</a:t>
            </a:r>
          </a:p>
          <a:p>
            <a:pPr algn="l">
              <a:lnSpc>
                <a:spcPct val="118000"/>
              </a:lnSpc>
            </a:pPr>
            <a:r>
              <a:rPr lang="en-US" sz="800" b="0" dirty="0">
                <a:solidFill>
                  <a:srgbClr val="5F6368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5F6368"/>
                </a:solidFill>
                <a:latin typeface="Google Sans Text"/>
                <a:cs typeface="Google Sans Text"/>
              </a:rPr>
              <a:t>Retrieves evidence with explicit IDs ([KB-...], [ARXIV-...], [WIKI-...]) and offline fallbacks.</a:t>
            </a:r>
          </a:p>
        </p:txBody>
      </p:sp>
      <p:sp>
        <p:nvSpPr>
          <p:cNvPr id="10" name="Rect 10"/>
          <p:cNvSpPr/>
          <p:nvPr/>
        </p:nvSpPr>
        <p:spPr>
          <a:xfrm>
            <a:off x="3429000" y="1727200"/>
            <a:ext cx="2540000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</p:sp>
      <p:sp>
        <p:nvSpPr>
          <p:cNvPr id="11" name="Box 11"/>
          <p:cNvSpPr txBox="1"/>
          <p:nvPr/>
        </p:nvSpPr>
        <p:spPr>
          <a:xfrm>
            <a:off x="6197600" y="1727200"/>
            <a:ext cx="2590800" cy="4191000"/>
          </a:xfrm>
          <a:prstGeom prst="roundRect">
            <a:avLst>
              <a:gd name="adj" fmla="val 45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txBody>
          <a:bodyPr wrap="square" lIns="203200" tIns="279400" rIns="203200" bIns="203200" anchor="t"/>
          <a:lstStyle/>
          <a:p>
            <a:pPr algn="l">
              <a:lnSpc>
                <a:spcPct val="118000"/>
              </a:lnSpc>
            </a:pPr>
            <a:r>
              <a:rPr lang="en-US" sz="1000" b="1" dirty="0">
                <a:solidFill>
                  <a:srgbClr val="C5221F"/>
                </a:solidFill>
                <a:latin typeface="Google Sans"/>
                <a:cs typeface="Google Sans"/>
              </a:rPr>
              <a:t>03 • CRITIQUE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202124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1" dirty="0">
                <a:solidFill>
                  <a:srgbClr val="202124"/>
                </a:solidFill>
                <a:latin typeface="Google Sans Mono"/>
                <a:cs typeface="Google Sans Mono"/>
              </a:rPr>
              <a:t>critique_research_draft</a:t>
            </a:r>
          </a:p>
          <a:p>
            <a:pPr algn="l">
              <a:lnSpc>
                <a:spcPct val="118000"/>
              </a:lnSpc>
            </a:pPr>
            <a:r>
              <a:rPr lang="en-US" sz="800" b="0" dirty="0">
                <a:solidFill>
                  <a:srgbClr val="5F6368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5F6368"/>
                </a:solidFill>
                <a:latin typeface="Google Sans Text"/>
                <a:cs typeface="Google Sans Text"/>
              </a:rPr>
              <a:t>Audits draft claims for &gt;= 2 distinct citations and depth; triggers revision if incomplete.</a:t>
            </a:r>
          </a:p>
        </p:txBody>
      </p:sp>
      <p:sp>
        <p:nvSpPr>
          <p:cNvPr id="12" name="Rect 12"/>
          <p:cNvSpPr/>
          <p:nvPr/>
        </p:nvSpPr>
        <p:spPr>
          <a:xfrm>
            <a:off x="6223000" y="1727200"/>
            <a:ext cx="25400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</p:sp>
      <p:sp>
        <p:nvSpPr>
          <p:cNvPr id="13" name="Box 13"/>
          <p:cNvSpPr txBox="1"/>
          <p:nvPr/>
        </p:nvSpPr>
        <p:spPr>
          <a:xfrm>
            <a:off x="8991600" y="1727200"/>
            <a:ext cx="2590800" cy="4191000"/>
          </a:xfrm>
          <a:prstGeom prst="roundRect">
            <a:avLst>
              <a:gd name="adj" fmla="val 45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txBody>
          <a:bodyPr wrap="square" lIns="203200" tIns="279400" rIns="203200" bIns="203200" anchor="t"/>
          <a:lstStyle/>
          <a:p>
            <a:pPr algn="l">
              <a:lnSpc>
                <a:spcPct val="118000"/>
              </a:lnSpc>
            </a:pPr>
            <a:r>
              <a:rPr lang="en-US" sz="1000" b="1" dirty="0">
                <a:solidFill>
                  <a:srgbClr val="137333"/>
                </a:solidFill>
                <a:latin typeface="Google Sans"/>
                <a:cs typeface="Google Sans"/>
              </a:rPr>
              <a:t>04 • REPORT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202124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1" dirty="0">
                <a:solidFill>
                  <a:srgbClr val="202124"/>
                </a:solidFill>
                <a:latin typeface="Google Sans Mono"/>
                <a:cs typeface="Google Sans Mono"/>
              </a:rPr>
              <a:t>research-report CLI</a:t>
            </a:r>
          </a:p>
          <a:p>
            <a:pPr algn="l">
              <a:lnSpc>
                <a:spcPct val="118000"/>
              </a:lnSpc>
            </a:pPr>
            <a:r>
              <a:rPr lang="en-US" sz="800" b="0" dirty="0">
                <a:solidFill>
                  <a:srgbClr val="5F6368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100" b="0" dirty="0">
                <a:solidFill>
                  <a:srgbClr val="5F6368"/>
                </a:solidFill>
                <a:latin typeface="Google Sans Text"/>
                <a:cs typeface="Google Sans Text"/>
              </a:rPr>
              <a:t>Outputs Markdown with inline [SOURCE_ID] citations and a verified ## References section.</a:t>
            </a:r>
          </a:p>
        </p:txBody>
      </p:sp>
      <p:sp>
        <p:nvSpPr>
          <p:cNvPr id="14" name="Rect 14"/>
          <p:cNvSpPr/>
          <p:nvPr/>
        </p:nvSpPr>
        <p:spPr>
          <a:xfrm>
            <a:off x="9017000" y="1727200"/>
            <a:ext cx="2540000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</p:sp>
      <p:sp>
        <p:nvSpPr>
          <p:cNvPr id="15" name="Rect 15"/>
          <p:cNvSpPr/>
          <p:nvPr/>
        </p:nvSpPr>
        <p:spPr>
          <a:xfrm>
            <a:off x="609600" y="6248400"/>
            <a:ext cx="10972800" cy="12700"/>
          </a:xfrm>
          <a:prstGeom prst="rect">
            <a:avLst/>
          </a:prstGeom>
          <a:solidFill>
            <a:srgbClr val="DADCE0"/>
          </a:solidFill>
          <a:ln>
            <a:noFill/>
          </a:ln>
        </p:spPr>
      </p:sp>
      <p:sp>
        <p:nvSpPr>
          <p:cNvPr id="16" name="Box 16"/>
          <p:cNvSpPr txBox="1"/>
          <p:nvPr/>
        </p:nvSpPr>
        <p:spPr>
          <a:xfrm>
            <a:off x="609600" y="6324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5F6368"/>
                </a:solidFill>
                <a:latin typeface="Google Sans Text"/>
                <a:cs typeface="Google Sans Text"/>
              </a:rPr>
              <a:t>Deterministic offline fallbacks guarantee reproducible runs in CI/CD and sandboxed environments</a:t>
            </a:r>
          </a:p>
        </p:txBody>
      </p:sp>
      <p:sp>
        <p:nvSpPr>
          <p:cNvPr id="17" name="Box 17"/>
          <p:cNvSpPr txBox="1"/>
          <p:nvPr/>
        </p:nvSpPr>
        <p:spPr>
          <a:xfrm>
            <a:off x="7747000" y="63246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1" dirty="0">
                <a:solidFill>
                  <a:srgbClr val="1A73E8"/>
                </a:solidFill>
                <a:latin typeface="Google Sans Mono"/>
                <a:cs typeface="Google Sans Mono"/>
              </a:rPr>
              <a:t>app/tools.py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9" grpId="0"/>
      <p:bldP spid="11" grpId="0"/>
      <p:bldP spid="13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ar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3" name="Box 3"/>
          <p:cNvSpPr txBox="1"/>
          <p:nvPr/>
        </p:nvSpPr>
        <p:spPr>
          <a:xfrm>
            <a:off x="609600" y="2540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81C995"/>
                </a:solidFill>
                <a:latin typeface="Google Sans"/>
                <a:cs typeface="Google Sans"/>
              </a:rPr>
              <a:t>LIVE DEMO  •  ACT 2 &amp; ACT 3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10795000" y="2540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Mono"/>
                <a:cs typeface="Google Sans Mono"/>
              </a:rPr>
              <a:t>08 / 10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26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LangGraph Studio &amp; Vertex AI Evaluations.</a:t>
            </a:r>
          </a:p>
        </p:txBody>
      </p:sp>
      <p:sp>
        <p:nvSpPr>
          <p:cNvPr id="6" name="Box 6"/>
          <p:cNvSpPr txBox="1"/>
          <p:nvPr/>
        </p:nvSpPr>
        <p:spPr>
          <a:xfrm>
            <a:off x="609600" y="10414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250" b="0" dirty="0">
                <a:solidFill>
                  <a:srgbClr val="BDC1C6"/>
                </a:solidFill>
                <a:latin typeface="Google Sans Text"/>
                <a:cs typeface="Google Sans Text"/>
              </a:rPr>
              <a:t>Boot LangGraph Studio via agents-cli playground and grade traces with Vertex AI Eval Service.</a:t>
            </a:r>
          </a:p>
        </p:txBody>
      </p:sp>
      <p:sp>
        <p:nvSpPr>
          <p:cNvPr id="7" name="Box 7"/>
          <p:cNvSpPr txBox="1"/>
          <p:nvPr/>
        </p:nvSpPr>
        <p:spPr>
          <a:xfrm>
            <a:off x="609600" y="1651000"/>
            <a:ext cx="5334000" cy="4318000"/>
          </a:xfrm>
          <a:prstGeom prst="roundRect">
            <a:avLst>
              <a:gd name="adj" fmla="val 4500"/>
            </a:avLst>
          </a:prstGeom>
          <a:solidFill>
            <a:srgbClr val="131314"/>
          </a:solidFill>
          <a:ln w="12700">
            <a:solidFill>
              <a:srgbClr val="3C4043"/>
            </a:solidFill>
          </a:ln>
        </p:spPr>
        <p:txBody>
          <a:bodyPr wrap="square" lIns="228600" tIns="203200" rIns="228600" bIns="203200" anchor="t"/>
          <a:lstStyle/>
          <a:p>
            <a:pPr algn="l">
              <a:lnSpc>
                <a:spcPct val="118000"/>
              </a:lnSpc>
            </a:pPr>
            <a:r>
              <a:rPr lang="en-US" sz="1000" b="1" dirty="0">
                <a:solidFill>
                  <a:srgbClr val="8AB4F8"/>
                </a:solidFill>
                <a:latin typeface="Google Sans"/>
                <a:cs typeface="Google Sans"/>
              </a:rPr>
              <a:t>1. RUN &amp; INSPECT IN LANGGRAPH STUDIO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$ agents-cli --help | grep -E "playground|run "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  playground  Start LangGraph server. </a:t>
            </a:r>
            <a:r>
              <a:rPr lang="en-US" sz="950" b="1" dirty="0">
                <a:solidFill>
                  <a:srgbClr val="81C995"/>
                </a:solidFill>
                <a:latin typeface="Google Sans Mono"/>
                <a:cs typeface="Google Sans Mono"/>
              </a:rPr>
              <a:t>[↑ langchain]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  run         Run compiled graph.     </a:t>
            </a:r>
            <a:r>
              <a:rPr lang="en-US" sz="950" b="1" dirty="0">
                <a:solidFill>
                  <a:srgbClr val="81C995"/>
                </a:solidFill>
                <a:latin typeface="Google Sans Mono"/>
                <a:cs typeface="Google Sans Mono"/>
              </a:rPr>
              <a:t>[↑ langchain]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$ agents-cli run "How do Agents CLI extensions work?"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FDD663"/>
                </a:solidFill>
                <a:latin typeface="Google Sans Mono"/>
                <a:cs typeface="Google Sans Mono"/>
              </a:rPr>
              <a:t>WARNING:root:agents-cli: applying 6 extension command(s)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$ agents-cli playground</a:t>
            </a:r>
          </a:p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81C995"/>
                </a:solidFill>
                <a:latin typeface="Google Sans Mono"/>
                <a:cs typeface="Google Sans Mono"/>
              </a:rPr>
              <a:t>&gt; Boots LangGraph Studio on http://localhost:8080</a:t>
            </a:r>
          </a:p>
        </p:txBody>
      </p:sp>
      <p:sp>
        <p:nvSpPr>
          <p:cNvPr id="8" name="Box 8"/>
          <p:cNvSpPr txBox="1"/>
          <p:nvPr/>
        </p:nvSpPr>
        <p:spPr>
          <a:xfrm>
            <a:off x="6248400" y="1651000"/>
            <a:ext cx="5334000" cy="4318000"/>
          </a:xfrm>
          <a:prstGeom prst="roundRect">
            <a:avLst>
              <a:gd name="adj" fmla="val 4500"/>
            </a:avLst>
          </a:prstGeom>
          <a:solidFill>
            <a:srgbClr val="131314"/>
          </a:solidFill>
          <a:ln w="12700">
            <a:solidFill>
              <a:srgbClr val="3C4043"/>
            </a:solidFill>
          </a:ln>
        </p:spPr>
        <p:txBody>
          <a:bodyPr wrap="square" lIns="228600" tIns="203200" rIns="228600" bIns="203200" anchor="t"/>
          <a:lstStyle/>
          <a:p>
            <a:pPr algn="l">
              <a:lnSpc>
                <a:spcPct val="118000"/>
              </a:lnSpc>
            </a:pPr>
            <a:r>
              <a:rPr lang="en-US" sz="1000" b="1" dirty="0">
                <a:solidFill>
                  <a:srgbClr val="81C995"/>
                </a:solidFill>
                <a:latin typeface="Google Sans"/>
                <a:cs typeface="Google Sans"/>
              </a:rPr>
              <a:t>2. OVERRIDDEN GENERATE + NATIVE GRADE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8AB4F8"/>
                </a:solidFill>
                <a:latin typeface="Google Sans Mono"/>
                <a:cs typeface="Google Sans Mono"/>
              </a:rPr>
              <a:t># Overridden: Drives LangGraph CompiledStateGraph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$ agents-cli eval generate \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    --dataset tests/eval/datasets/basic-dataset.json \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    -o tests/eval/output/</a:t>
            </a:r>
          </a:p>
          <a:p>
            <a:pPr algn="l">
              <a:lnSpc>
                <a:spcPct val="118000"/>
              </a:lnSpc>
            </a:pPr>
            <a:r>
              <a:rPr lang="en-US" sz="6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81C995"/>
                </a:solidFill>
                <a:latin typeface="Google Sans Mono"/>
                <a:cs typeface="Google Sans Mono"/>
              </a:rPr>
              <a:t># Native: Scores traces via Vertex AI Eval Service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$ agents-cli eval grade \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    --traces tests/eval/output/basic-dataset.json \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    --config tests/eval/eval_config.yaml</a:t>
            </a:r>
          </a:p>
        </p:txBody>
      </p:sp>
      <p:sp>
        <p:nvSpPr>
          <p:cNvPr id="9" name="Rect 9"/>
          <p:cNvSpPr/>
          <p:nvPr/>
        </p:nvSpPr>
        <p:spPr>
          <a:xfrm>
            <a:off x="609600" y="6248400"/>
            <a:ext cx="10972800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</p:sp>
      <p:sp>
        <p:nvSpPr>
          <p:cNvPr id="10" name="Box 10"/>
          <p:cNvSpPr txBox="1"/>
          <p:nvPr/>
        </p:nvSpPr>
        <p:spPr>
          <a:xfrm>
            <a:off x="609600" y="6324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Text"/>
                <a:cs typeface="Google Sans Text"/>
              </a:rPr>
              <a:t>Unsupported ADK-simulator commands (eval dataset) exit cleanly with an explanation</a:t>
            </a:r>
          </a:p>
        </p:txBody>
      </p:sp>
      <p:sp>
        <p:nvSpPr>
          <p:cNvPr id="11" name="Box 11"/>
          <p:cNvSpPr txBox="1"/>
          <p:nvPr/>
        </p:nvSpPr>
        <p:spPr>
          <a:xfrm>
            <a:off x="7747000" y="63246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1" dirty="0">
                <a:solidFill>
                  <a:srgbClr val="81C995"/>
                </a:solidFill>
                <a:latin typeface="Google Sans Mono"/>
                <a:cs typeface="Google Sans Mono"/>
              </a:rPr>
              <a:t>Standard EvaluationDataset Schema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ar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3" name="Box 3"/>
          <p:cNvSpPr txBox="1"/>
          <p:nvPr/>
        </p:nvSpPr>
        <p:spPr>
          <a:xfrm>
            <a:off x="609600" y="2540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F28B82"/>
                </a:solidFill>
                <a:latin typeface="Google Sans"/>
                <a:cs typeface="Google Sans"/>
              </a:rPr>
              <a:t>LIVE DEMO  •  ACT 4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10795000" y="2540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Mono"/>
                <a:cs typeface="Google Sans Mono"/>
              </a:rPr>
              <a:t>09 / 10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26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Policy-as-Code: Custom sbom-deploy Gate</a:t>
            </a:r>
          </a:p>
        </p:txBody>
      </p:sp>
      <p:sp>
        <p:nvSpPr>
          <p:cNvPr id="6" name="Box 6"/>
          <p:cNvSpPr txBox="1"/>
          <p:nvPr/>
        </p:nvSpPr>
        <p:spPr>
          <a:xfrm>
            <a:off x="609600" y="10414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1250" b="0" dirty="0">
                <a:solidFill>
                  <a:srgbClr val="BDC1C6"/>
                </a:solidFill>
                <a:latin typeface="Google Sans Text"/>
                <a:cs typeface="Google Sans Text"/>
              </a:rPr>
              <a:t>AGENTS_CLI_DISABLE_OVERRIDES=1 lets wrapper scripts run Syft + Grype checks and call native deploy without recursion.</a:t>
            </a:r>
          </a:p>
        </p:txBody>
      </p:sp>
      <p:sp>
        <p:nvSpPr>
          <p:cNvPr id="7" name="Box 7"/>
          <p:cNvSpPr txBox="1"/>
          <p:nvPr/>
        </p:nvSpPr>
        <p:spPr>
          <a:xfrm>
            <a:off x="609600" y="1651000"/>
            <a:ext cx="5334000" cy="4318000"/>
          </a:xfrm>
          <a:prstGeom prst="roundRect">
            <a:avLst>
              <a:gd name="adj" fmla="val 4500"/>
            </a:avLst>
          </a:prstGeom>
          <a:solidFill>
            <a:srgbClr val="131314"/>
          </a:solidFill>
          <a:ln w="12700">
            <a:solidFill>
              <a:srgbClr val="3C4043"/>
            </a:solidFill>
          </a:ln>
        </p:spPr>
        <p:txBody>
          <a:bodyPr wrap="square" lIns="228600" tIns="203200" rIns="228600" bIns="203200" anchor="t"/>
          <a:lstStyle/>
          <a:p>
            <a:pPr algn="l">
              <a:lnSpc>
                <a:spcPct val="118000"/>
              </a:lnSpc>
            </a:pPr>
            <a:r>
              <a:rPr lang="en-US" sz="1000" b="1" dirty="0">
                <a:solidFill>
                  <a:srgbClr val="FDD663"/>
                </a:solidFill>
                <a:latin typeface="Google Sans"/>
                <a:cs typeface="Google Sans"/>
              </a:rPr>
              <a:t>AGENTS-CLI-EXTENSION.YAML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schema: agents-cli-extension/v1alpha1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81C995"/>
                </a:solidFill>
                <a:latin typeface="Google Sans Mono"/>
                <a:cs typeface="Google Sans Mono"/>
              </a:rPr>
              <a:t>name: sbom-deploy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description: Scan project SBOM, then run native deploy.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requires: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FDD663"/>
                </a:solidFill>
                <a:latin typeface="Google Sans Mono"/>
                <a:cs typeface="Google Sans Mono"/>
              </a:rPr>
              <a:t>  agents_cli: "&gt;=1.5,&lt;2"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  on_incompatible: warn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commands: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8AB4F8"/>
                </a:solidFill>
                <a:latin typeface="Google Sans Mono"/>
                <a:cs typeface="Google Sans Mono"/>
              </a:rPr>
              <a:t>  override: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    deploy: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81C995"/>
                </a:solidFill>
                <a:latin typeface="Google Sans Mono"/>
                <a:cs typeface="Google Sans Mono"/>
              </a:rPr>
              <a:t>      run: ["bash", "scripts/sbom_then_deploy.sh"]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8AB4F8"/>
                </a:solidFill>
                <a:latin typeface="Google Sans Mono"/>
                <a:cs typeface="Google Sans Mono"/>
              </a:rPr>
              <a:t>  add: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    sbom-report: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81C995"/>
                </a:solidFill>
                <a:latin typeface="Google Sans Mono"/>
                <a:cs typeface="Google Sans Mono"/>
              </a:rPr>
              <a:t>      run: ["bash", "scripts/sbom_report.sh"]</a:t>
            </a:r>
          </a:p>
        </p:txBody>
      </p:sp>
      <p:sp>
        <p:nvSpPr>
          <p:cNvPr id="8" name="Box 8"/>
          <p:cNvSpPr txBox="1"/>
          <p:nvPr/>
        </p:nvSpPr>
        <p:spPr>
          <a:xfrm>
            <a:off x="6248400" y="1651000"/>
            <a:ext cx="5334000" cy="4318000"/>
          </a:xfrm>
          <a:prstGeom prst="roundRect">
            <a:avLst>
              <a:gd name="adj" fmla="val 4500"/>
            </a:avLst>
          </a:prstGeom>
          <a:solidFill>
            <a:srgbClr val="131314"/>
          </a:solidFill>
          <a:ln w="12700">
            <a:solidFill>
              <a:srgbClr val="3C4043"/>
            </a:solidFill>
          </a:ln>
        </p:spPr>
        <p:txBody>
          <a:bodyPr wrap="square" lIns="228600" tIns="203200" rIns="228600" bIns="203200" anchor="t"/>
          <a:lstStyle/>
          <a:p>
            <a:pPr algn="l">
              <a:lnSpc>
                <a:spcPct val="118000"/>
              </a:lnSpc>
            </a:pPr>
            <a:r>
              <a:rPr lang="en-US" sz="1000" b="1" dirty="0">
                <a:solidFill>
                  <a:srgbClr val="81C995"/>
                </a:solidFill>
                <a:latin typeface="Google Sans"/>
                <a:cs typeface="Google Sans"/>
              </a:rPr>
              <a:t>SCRIPTS/SBOM_THEN_DEPLOY.SH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Mono"/>
                <a:cs typeface="Google Sans Mono"/>
              </a:rPr>
              <a:t>#!/usr/bin/env bash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set -euo pipefail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echo "[sbom-deploy] Generating CycloneDX SBOM..."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FDD663"/>
                </a:solidFill>
                <a:latin typeface="Google Sans Mono"/>
                <a:cs typeface="Google Sans Mono"/>
              </a:rPr>
              <a:t>syft dir:. -o cyclonedx-json &gt; /tmp/sbom.cdx.json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E8EAED"/>
                </a:solidFill>
                <a:latin typeface="Google Sans Mono"/>
                <a:cs typeface="Google Sans Mono"/>
              </a:rPr>
              <a:t>echo "[sbom-deploy] Scanning for critical CVEs..."</a:t>
            </a:r>
          </a:p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FDD663"/>
                </a:solidFill>
                <a:latin typeface="Google Sans Mono"/>
                <a:cs typeface="Google Sans Mono"/>
              </a:rPr>
              <a:t>grype sbom:/tmp/sbom.cdx.json --fail-on critical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E8EAED"/>
                </a:solidFill>
                <a:latin typeface="Google Sans Mono"/>
                <a:cs typeface="Google Sans Mono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8AB4F8"/>
                </a:solidFill>
                <a:latin typeface="Google Sans Mono"/>
                <a:cs typeface="Google Sans Mono"/>
              </a:rPr>
              <a:t># Loader sets AGENTS_CLI_DISABLE_OVERRIDES=1</a:t>
            </a:r>
          </a:p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8AB4F8"/>
                </a:solidFill>
                <a:latin typeface="Google Sans Mono"/>
                <a:cs typeface="Google Sans Mono"/>
              </a:rPr>
              <a:t># Delegates to built-in deploy with zero recursion!</a:t>
            </a:r>
          </a:p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81C995"/>
                </a:solidFill>
                <a:latin typeface="Google Sans Mono"/>
                <a:cs typeface="Google Sans Mono"/>
              </a:rPr>
              <a:t>exec agents-cli deploy "$@"</a:t>
            </a:r>
          </a:p>
        </p:txBody>
      </p:sp>
      <p:sp>
        <p:nvSpPr>
          <p:cNvPr id="9" name="Rect 9"/>
          <p:cNvSpPr/>
          <p:nvPr/>
        </p:nvSpPr>
        <p:spPr>
          <a:xfrm>
            <a:off x="609600" y="6248400"/>
            <a:ext cx="10972800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</p:sp>
      <p:sp>
        <p:nvSpPr>
          <p:cNvPr id="10" name="Box 10"/>
          <p:cNvSpPr txBox="1"/>
          <p:nvPr/>
        </p:nvSpPr>
        <p:spPr>
          <a:xfrm>
            <a:off x="609600" y="63246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Text"/>
                <a:cs typeface="Google Sans Text"/>
              </a:rPr>
              <a:t>$ agents-cli extension add local@./extensions/sbom-deploy --yes</a:t>
            </a:r>
          </a:p>
        </p:txBody>
      </p:sp>
      <p:sp>
        <p:nvSpPr>
          <p:cNvPr id="11" name="Box 11"/>
          <p:cNvSpPr txBox="1"/>
          <p:nvPr/>
        </p:nvSpPr>
        <p:spPr>
          <a:xfrm>
            <a:off x="7747000" y="6324600"/>
            <a:ext cx="3835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1" dirty="0">
                <a:solidFill>
                  <a:srgbClr val="81C995"/>
                </a:solidFill>
                <a:latin typeface="Google Sans Mono"/>
                <a:cs typeface="Google Sans Mono"/>
              </a:rPr>
              <a:t>AGENTS_CLI_DISABLE_OVERRIDES=1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ientBar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flip="none" rotWithShape="1"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3" name="Box 3"/>
          <p:cNvSpPr txBox="1"/>
          <p:nvPr/>
        </p:nvSpPr>
        <p:spPr>
          <a:xfrm>
            <a:off x="609600" y="2540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950" b="1" dirty="0">
                <a:solidFill>
                  <a:srgbClr val="8AB4F8"/>
                </a:solidFill>
                <a:latin typeface="Google Sans"/>
                <a:cs typeface="Google Sans"/>
              </a:rPr>
              <a:t>GOOGLE CLOUD NEXT '27 SUMMARY</a:t>
            </a:r>
          </a:p>
        </p:txBody>
      </p:sp>
      <p:sp>
        <p:nvSpPr>
          <p:cNvPr id="4" name="Box 4"/>
          <p:cNvSpPr txBox="1"/>
          <p:nvPr/>
        </p:nvSpPr>
        <p:spPr>
          <a:xfrm>
            <a:off x="10795000" y="2540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</a:pPr>
            <a:r>
              <a:rPr lang="en-US" sz="950" b="0" dirty="0">
                <a:solidFill>
                  <a:srgbClr val="9AA0A6"/>
                </a:solidFill>
                <a:latin typeface="Google Sans Mono"/>
                <a:cs typeface="Google Sans Mono"/>
              </a:rPr>
              <a:t>10 / 10</a:t>
            </a:r>
          </a:p>
        </p:txBody>
      </p:sp>
      <p:sp>
        <p:nvSpPr>
          <p:cNvPr id="5" name="Box 5"/>
          <p:cNvSpPr txBox="1"/>
          <p:nvPr/>
        </p:nvSpPr>
        <p:spPr>
          <a:xfrm>
            <a:off x="609600" y="533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26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The Open Agent Development Lifecycle</a:t>
            </a:r>
          </a:p>
        </p:txBody>
      </p:sp>
      <p:sp>
        <p:nvSpPr>
          <p:cNvPr id="6" name="Box 6"/>
          <p:cNvSpPr txBox="1"/>
          <p:nvPr/>
        </p:nvSpPr>
        <p:spPr>
          <a:xfrm>
            <a:off x="609600" y="1270000"/>
            <a:ext cx="3505200" cy="1778000"/>
          </a:xfrm>
          <a:prstGeom prst="roundRect">
            <a:avLst>
              <a:gd name="adj" fmla="val 4500"/>
            </a:avLst>
          </a:prstGeom>
          <a:solidFill>
            <a:srgbClr val="161922"/>
          </a:solidFill>
          <a:ln w="12700">
            <a:solidFill>
              <a:srgbClr val="2D3343"/>
            </a:solidFill>
          </a:ln>
        </p:spPr>
        <p:txBody>
          <a:bodyPr wrap="square" lIns="203200" tIns="177800" rIns="203200" bIns="152400" anchor="t"/>
          <a:lstStyle/>
          <a:p>
            <a:pPr algn="l">
              <a:lnSpc>
                <a:spcPct val="118000"/>
              </a:lnSpc>
            </a:pPr>
            <a:r>
              <a:rPr lang="en-US" sz="850" b="1" dirty="0">
                <a:solidFill>
                  <a:srgbClr val="8AB4F8"/>
                </a:solidFill>
                <a:latin typeface="Google Sans Mono"/>
                <a:cs typeface="Google Sans Mono"/>
              </a:rPr>
              <a:t>01 • OPEN FRAMEWORKS</a:t>
            </a:r>
          </a:p>
          <a:p>
            <a:pPr algn="l">
              <a:lnSpc>
                <a:spcPct val="118000"/>
              </a:lnSpc>
            </a:pPr>
            <a:r>
              <a:rPr lang="en-US" sz="15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LangChain &amp; LangGraph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9AA0A6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9AA0A6"/>
                </a:solidFill>
                <a:latin typeface="Google Sans Text"/>
                <a:cs typeface="Google Sans Text"/>
              </a:rPr>
              <a:t>First-party template with zero google-adk dependency and unified CompiledStateGraph.</a:t>
            </a:r>
          </a:p>
        </p:txBody>
      </p:sp>
      <p:sp>
        <p:nvSpPr>
          <p:cNvPr id="7" name="Box 7"/>
          <p:cNvSpPr txBox="1"/>
          <p:nvPr/>
        </p:nvSpPr>
        <p:spPr>
          <a:xfrm>
            <a:off x="4343400" y="1270000"/>
            <a:ext cx="3505200" cy="1778000"/>
          </a:xfrm>
          <a:prstGeom prst="roundRect">
            <a:avLst>
              <a:gd name="adj" fmla="val 4500"/>
            </a:avLst>
          </a:prstGeom>
          <a:solidFill>
            <a:srgbClr val="161922"/>
          </a:solidFill>
          <a:ln w="12700">
            <a:solidFill>
              <a:srgbClr val="2D3343"/>
            </a:solidFill>
          </a:ln>
        </p:spPr>
        <p:txBody>
          <a:bodyPr wrap="square" lIns="203200" tIns="177800" rIns="203200" bIns="152400" anchor="t"/>
          <a:lstStyle/>
          <a:p>
            <a:pPr algn="l">
              <a:lnSpc>
                <a:spcPct val="118000"/>
              </a:lnSpc>
            </a:pPr>
            <a:r>
              <a:rPr lang="en-US" sz="850" b="1" dirty="0">
                <a:solidFill>
                  <a:srgbClr val="81C995"/>
                </a:solidFill>
                <a:latin typeface="Google Sans Mono"/>
                <a:cs typeface="Google Sans Mono"/>
              </a:rPr>
              <a:t>02 • LOCAL DEVELOPER EXPERIENCE</a:t>
            </a:r>
          </a:p>
          <a:p>
            <a:pPr algn="l">
              <a:lnSpc>
                <a:spcPct val="118000"/>
              </a:lnSpc>
            </a:pPr>
            <a:r>
              <a:rPr lang="en-US" sz="15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LangGraph Studio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9AA0A6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9AA0A6"/>
                </a:solidFill>
                <a:latin typeface="Google Sans Text"/>
                <a:cs typeface="Google Sans Text"/>
              </a:rPr>
              <a:t>agents-cli playground boots LangGraph dev server on port 8080 for visual graph inspection.</a:t>
            </a:r>
          </a:p>
        </p:txBody>
      </p:sp>
      <p:sp>
        <p:nvSpPr>
          <p:cNvPr id="8" name="Box 8"/>
          <p:cNvSpPr txBox="1"/>
          <p:nvPr/>
        </p:nvSpPr>
        <p:spPr>
          <a:xfrm>
            <a:off x="8077200" y="1270000"/>
            <a:ext cx="3505200" cy="1778000"/>
          </a:xfrm>
          <a:prstGeom prst="roundRect">
            <a:avLst>
              <a:gd name="adj" fmla="val 4500"/>
            </a:avLst>
          </a:prstGeom>
          <a:solidFill>
            <a:srgbClr val="161922"/>
          </a:solidFill>
          <a:ln w="12700">
            <a:solidFill>
              <a:srgbClr val="2D3343"/>
            </a:solidFill>
          </a:ln>
        </p:spPr>
        <p:txBody>
          <a:bodyPr wrap="square" lIns="203200" tIns="177800" rIns="203200" bIns="152400" anchor="t"/>
          <a:lstStyle/>
          <a:p>
            <a:pPr algn="l">
              <a:lnSpc>
                <a:spcPct val="118000"/>
              </a:lnSpc>
            </a:pPr>
            <a:r>
              <a:rPr lang="en-US" sz="850" b="1" dirty="0">
                <a:solidFill>
                  <a:srgbClr val="FDD663"/>
                </a:solidFill>
                <a:latin typeface="Google Sans Mono"/>
                <a:cs typeface="Google Sans Mono"/>
              </a:rPr>
              <a:t>03 • QUALITY FLYWHEEL</a:t>
            </a:r>
          </a:p>
          <a:p>
            <a:pPr algn="l">
              <a:lnSpc>
                <a:spcPct val="118000"/>
              </a:lnSpc>
            </a:pPr>
            <a:r>
              <a:rPr lang="en-US" sz="15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Vertex AI Evaluations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9AA0A6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9AA0A6"/>
                </a:solidFill>
                <a:latin typeface="Google Sans Text"/>
                <a:cs typeface="Google Sans Text"/>
              </a:rPr>
              <a:t>Overridden eval generate pairs seamlessly with native eval grade and eval compare.</a:t>
            </a:r>
          </a:p>
        </p:txBody>
      </p:sp>
      <p:sp>
        <p:nvSpPr>
          <p:cNvPr id="9" name="Box 9"/>
          <p:cNvSpPr txBox="1"/>
          <p:nvPr/>
        </p:nvSpPr>
        <p:spPr>
          <a:xfrm>
            <a:off x="609600" y="3238500"/>
            <a:ext cx="3505200" cy="1778000"/>
          </a:xfrm>
          <a:prstGeom prst="roundRect">
            <a:avLst>
              <a:gd name="adj" fmla="val 4500"/>
            </a:avLst>
          </a:prstGeom>
          <a:solidFill>
            <a:srgbClr val="161922"/>
          </a:solidFill>
          <a:ln w="12700">
            <a:solidFill>
              <a:srgbClr val="2D3343"/>
            </a:solidFill>
          </a:ln>
        </p:spPr>
        <p:txBody>
          <a:bodyPr wrap="square" lIns="203200" tIns="177800" rIns="203200" bIns="152400" anchor="t"/>
          <a:lstStyle/>
          <a:p>
            <a:pPr algn="l">
              <a:lnSpc>
                <a:spcPct val="118000"/>
              </a:lnSpc>
            </a:pPr>
            <a:r>
              <a:rPr lang="en-US" sz="850" b="1" dirty="0">
                <a:solidFill>
                  <a:srgbClr val="F28B82"/>
                </a:solidFill>
                <a:latin typeface="Google Sans Mono"/>
                <a:cs typeface="Google Sans Mono"/>
              </a:rPr>
              <a:t>04 • ENTERPRISE GOVERNANCE</a:t>
            </a:r>
          </a:p>
          <a:p>
            <a:pPr algn="l">
              <a:lnSpc>
                <a:spcPct val="118000"/>
              </a:lnSpc>
            </a:pPr>
            <a:r>
              <a:rPr lang="en-US" sz="15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SBOM Pre-Deploy Gates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9AA0A6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9AA0A6"/>
                </a:solidFill>
                <a:latin typeface="Google Sans Text"/>
                <a:cs typeface="Google Sans Text"/>
              </a:rPr>
              <a:t>Wrap deploy with Syft + Grype checks and delegate safely via AGENTS_CLI_DISABLE_OVERRIDES=1.</a:t>
            </a:r>
          </a:p>
        </p:txBody>
      </p:sp>
      <p:sp>
        <p:nvSpPr>
          <p:cNvPr id="10" name="Box 10"/>
          <p:cNvSpPr txBox="1"/>
          <p:nvPr/>
        </p:nvSpPr>
        <p:spPr>
          <a:xfrm>
            <a:off x="4343400" y="3238500"/>
            <a:ext cx="3505200" cy="1778000"/>
          </a:xfrm>
          <a:prstGeom prst="roundRect">
            <a:avLst>
              <a:gd name="adj" fmla="val 4500"/>
            </a:avLst>
          </a:prstGeom>
          <a:solidFill>
            <a:srgbClr val="161922"/>
          </a:solidFill>
          <a:ln w="12700">
            <a:solidFill>
              <a:srgbClr val="2D3343"/>
            </a:solidFill>
          </a:ln>
        </p:spPr>
        <p:txBody>
          <a:bodyPr wrap="square" lIns="203200" tIns="177800" rIns="203200" bIns="152400" anchor="t"/>
          <a:lstStyle/>
          <a:p>
            <a:pPr algn="l">
              <a:lnSpc>
                <a:spcPct val="118000"/>
              </a:lnSpc>
            </a:pPr>
            <a:r>
              <a:rPr lang="en-US" sz="850" b="1" dirty="0">
                <a:solidFill>
                  <a:srgbClr val="8AB4F8"/>
                </a:solidFill>
                <a:latin typeface="Google Sans Mono"/>
                <a:cs typeface="Google Sans Mono"/>
              </a:rPr>
              <a:t>05 • SUPPLY-CHAIN SECURITY</a:t>
            </a:r>
          </a:p>
          <a:p>
            <a:pPr algn="l">
              <a:lnSpc>
                <a:spcPct val="118000"/>
              </a:lnSpc>
            </a:pPr>
            <a:r>
              <a:rPr lang="en-US" sz="15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SHA Lockfile Discipline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9AA0A6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9AA0A6"/>
                </a:solidFill>
                <a:latin typeface="Google Sans Text"/>
                <a:cs typeface="Google Sans Text"/>
              </a:rPr>
              <a:t>Pinned commit SHAs in agents-cli-extensions.yaml ensure bit-for-bit reproducible CI builds.</a:t>
            </a:r>
          </a:p>
        </p:txBody>
      </p:sp>
      <p:sp>
        <p:nvSpPr>
          <p:cNvPr id="11" name="Box 11"/>
          <p:cNvSpPr txBox="1"/>
          <p:nvPr/>
        </p:nvSpPr>
        <p:spPr>
          <a:xfrm>
            <a:off x="8077200" y="3238500"/>
            <a:ext cx="3505200" cy="1778000"/>
          </a:xfrm>
          <a:prstGeom prst="roundRect">
            <a:avLst>
              <a:gd name="adj" fmla="val 4500"/>
            </a:avLst>
          </a:prstGeom>
          <a:solidFill>
            <a:srgbClr val="161922"/>
          </a:solidFill>
          <a:ln w="12700">
            <a:solidFill>
              <a:srgbClr val="2D3343"/>
            </a:solidFill>
          </a:ln>
        </p:spPr>
        <p:txBody>
          <a:bodyPr wrap="square" lIns="203200" tIns="177800" rIns="203200" bIns="152400" anchor="t"/>
          <a:lstStyle/>
          <a:p>
            <a:pPr algn="l">
              <a:lnSpc>
                <a:spcPct val="118000"/>
              </a:lnSpc>
            </a:pPr>
            <a:r>
              <a:rPr lang="en-US" sz="850" b="1" dirty="0">
                <a:solidFill>
                  <a:srgbClr val="81C995"/>
                </a:solidFill>
                <a:latin typeface="Google Sans Mono"/>
                <a:cs typeface="Google Sans Mono"/>
              </a:rPr>
              <a:t>06 • SERVERLESS PRODUCTION</a:t>
            </a:r>
          </a:p>
          <a:p>
            <a:pPr algn="l">
              <a:lnSpc>
                <a:spcPct val="118000"/>
              </a:lnSpc>
            </a:pPr>
            <a:r>
              <a:rPr lang="en-US" sz="1500" b="1" dirty="0">
                <a:solidFill>
                  <a:srgbClr val="FFFFFF"/>
                </a:solidFill>
                <a:latin typeface="Google Sans Display"/>
                <a:cs typeface="Google Sans Display"/>
              </a:rPr>
              <a:t>Cloud Run + A2A Protocol</a:t>
            </a:r>
          </a:p>
          <a:p>
            <a:pPr algn="l">
              <a:lnSpc>
                <a:spcPct val="118000"/>
              </a:lnSpc>
            </a:pPr>
            <a:r>
              <a:rPr lang="en-US" sz="400" b="0" dirty="0">
                <a:solidFill>
                  <a:srgbClr val="9AA0A6"/>
                </a:solidFill>
                <a:latin typeface="Google Sans Text"/>
                <a:cs typeface="Google Sans Text"/>
              </a:rPr>
              <a:t/>
            </a:r>
          </a:p>
          <a:p>
            <a:pPr algn="l">
              <a:lnSpc>
                <a:spcPct val="118000"/>
              </a:lnSpc>
            </a:pPr>
            <a:r>
              <a:rPr lang="en-US" sz="1000" b="0" dirty="0">
                <a:solidFill>
                  <a:srgbClr val="9AA0A6"/>
                </a:solidFill>
                <a:latin typeface="Google Sans Text"/>
                <a:cs typeface="Google Sans Text"/>
              </a:rPr>
              <a:t>Exposes /.well-known/agent.json and /a2a/tasks/send over FastAPI on port 8080.</a:t>
            </a:r>
          </a:p>
        </p:txBody>
      </p:sp>
      <p:sp>
        <p:nvSpPr>
          <p:cNvPr id="12" name="Rect 12"/>
          <p:cNvSpPr/>
          <p:nvPr/>
        </p:nvSpPr>
        <p:spPr>
          <a:xfrm>
            <a:off x="609600" y="52705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131C31"/>
          </a:solidFill>
          <a:ln w="19050">
            <a:solidFill>
              <a:srgbClr val="4285F4"/>
            </a:solidFill>
          </a:ln>
        </p:spPr>
      </p:sp>
      <p:sp>
        <p:nvSpPr>
          <p:cNvPr id="13" name="Box 13"/>
          <p:cNvSpPr txBox="1"/>
          <p:nvPr/>
        </p:nvSpPr>
        <p:spPr>
          <a:xfrm>
            <a:off x="863600" y="5397500"/>
            <a:ext cx="711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t"/>
          <a:lstStyle/>
          <a:p>
            <a:pPr algn="l">
              <a:lnSpc>
                <a:spcPct val="118000"/>
              </a:lnSpc>
            </a:pPr>
            <a:r>
              <a:rPr lang="en-US" sz="900" b="1" dirty="0">
                <a:solidFill>
                  <a:srgbClr val="8AB4F8"/>
                </a:solidFill>
                <a:latin typeface="Google Sans"/>
                <a:cs typeface="Google Sans"/>
              </a:rPr>
              <a:t>GET STARTED TODAY</a:t>
            </a:r>
          </a:p>
          <a:p>
            <a:pPr algn="l">
              <a:lnSpc>
                <a:spcPct val="118000"/>
              </a:lnSpc>
            </a:pPr>
            <a:r>
              <a:rPr lang="en-US" sz="1400" b="1" dirty="0">
                <a:solidFill>
                  <a:srgbClr val="FFFFFF"/>
                </a:solidFill>
                <a:latin typeface="Google Sans Mono"/>
                <a:cs typeface="Google Sans Mono"/>
              </a:rPr>
              <a:t>https://github.com/sanketbisne/scalfod-langgraph-agentscli</a:t>
            </a:r>
          </a:p>
        </p:txBody>
      </p:sp>
      <p:sp>
        <p:nvSpPr>
          <p:cNvPr id="14" name="Box 14"/>
          <p:cNvSpPr txBox="1"/>
          <p:nvPr/>
        </p:nvSpPr>
        <p:spPr>
          <a:xfrm>
            <a:off x="8572500" y="5499100"/>
            <a:ext cx="2730500" cy="457200"/>
          </a:xfrm>
          <a:prstGeom prst="roundRect">
            <a:avLst>
              <a:gd name="adj" fmla="val 20000"/>
            </a:avLst>
          </a:prstGeom>
          <a:solidFill>
            <a:srgbClr val="1A73E8"/>
          </a:solidFill>
          <a:ln>
            <a:noFill/>
          </a:ln>
        </p:spPr>
        <p:txBody>
          <a:bodyPr wrap="square" lIns="152400" tIns="127000" rIns="152400" bIns="127000" anchor="ctr"/>
          <a:lstStyle/>
          <a:p>
            <a:pPr algn="c">
              <a:lnSpc>
                <a:spcPct val="118000"/>
              </a:lnSpc>
            </a:pPr>
            <a:r>
              <a:rPr lang="en-US" sz="1000" b="1" dirty="0">
                <a:solidFill>
                  <a:srgbClr val="FFFFFF"/>
                </a:solidFill>
                <a:latin typeface="Google Sans Mono"/>
                <a:cs typeface="Google Sans Mono"/>
              </a:rPr>
              <a:t>uvx google-agents-cli setup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0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8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8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theme/theme1.xml><?xml version="1.0" encoding="utf-8"?>
<a:theme xmlns:a="http://schemas.openxmlformats.org/drawingml/2006/main" name="GoogleCloudNext27">
  <a:themeElements>
    <a:clrScheme name="GoogleCloud">
      <a:dk1>
        <a:srgbClr val="202124"/>
      </a:dk1>
      <a:lt1>
        <a:srgbClr val="FFFFFF"/>
      </a:lt1>
      <a:dk2>
        <a:srgbClr val="0E1015"/>
      </a:dk2>
      <a:lt2>
        <a:srgbClr val="F8F9FA"/>
      </a:lt2>
      <a:accent1>
        <a:srgbClr val="4285F4"/>
      </a:accent1>
      <a:accent2>
        <a:srgbClr val="EA4335"/>
      </a:accent2>
      <a:accent3>
        <a:srgbClr val="FBBC04"/>
      </a:accent3>
      <a:accent4>
        <a:srgbClr val="34A853"/>
      </a:accent4>
      <a:accent5>
        <a:srgbClr val="8AB4F8"/>
      </a:accent5>
      <a:accent6>
        <a:srgbClr val="81C995"/>
      </a:accent6>
      <a:hlink>
        <a:srgbClr val="4285F4"/>
      </a:hlink>
      <a:folHlink>
        <a:srgbClr val="9B72CB"/>
      </a:folHlink>
    </a:clrScheme>
    <a:fontScheme name="GoogleSansScheme">
      <a:majorFont>
        <a:latin typeface="Google Sans Display"/>
        <a:ea typeface=""/>
        <a:cs typeface=""/>
      </a:majorFont>
      <a:minorFont>
        <a:latin typeface="Google Sans Text"/>
        <a:ea typeface=""/>
        <a:cs typeface=""/>
      </a:minorFont>
    </a:fontScheme>
    <a:fmtScheme name="Google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