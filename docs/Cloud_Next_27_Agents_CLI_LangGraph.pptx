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 type="screen16x9"/>
  <p:notesSz cx="6858000" cy="12192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slide" Target="slides/slide1.xml"/>
  <Relationship Id="rId4" Type="http://schemas.openxmlformats.org/officeDocument/2006/relationships/slide" Target="slides/slide2.xml"/>
  <Relationship Id="rId5" Type="http://schemas.openxmlformats.org/officeDocument/2006/relationships/slide" Target="slides/slide3.xml"/>
  <Relationship Id="rId6" Type="http://schemas.openxmlformats.org/officeDocument/2006/relationships/slide" Target="slides/slide4.xml"/>
  <Relationship Id="rId7" Type="http://schemas.openxmlformats.org/officeDocument/2006/relationships/slide" Target="slides/slide5.xml"/>
  <Relationship Id="rId8" Type="http://schemas.openxmlformats.org/officeDocument/2006/relationships/slide" Target="slides/slide6.xml"/>
  <Relationship Id="rId9" Type="http://schemas.openxmlformats.org/officeDocument/2006/relationships/slide" Target="slides/slide7.xml"/>
  <Relationship Id="rId10" Type="http://schemas.openxmlformats.org/officeDocument/2006/relationships/slide" Target="slides/slide8.xml"/>
  <Relationship Id="rId11" Type="http://schemas.openxmlformats.org/officeDocument/2006/relationships/slide" Target="slides/slide9.xml"/>
  <Relationship Id="rId12" Type="http://schemas.openxmlformats.org/officeDocument/2006/relationships/slide" Target="slides/slide10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0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3048000" cy="762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048000" y="0"/>
            <a:ext cx="3048000" cy="762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Shape 4"/>
          <p:cNvSpPr/>
          <p:nvPr/>
        </p:nvSpPr>
        <p:spPr>
          <a:xfrm>
            <a:off x="6096000" y="0"/>
            <a:ext cx="3048000" cy="762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Shape 5"/>
          <p:cNvSpPr/>
          <p:nvPr/>
        </p:nvSpPr>
        <p:spPr>
          <a:xfrm>
            <a:off x="9144000" y="0"/>
            <a:ext cx="3048000" cy="762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711200" y="711200"/>
            <a:ext cx="8890000" cy="355600"/>
          </a:xfrm>
          <a:prstGeom prst="rect">
            <a:avLst/>
          </a:prstGeom>
          <a:noFill/>
          <a:ln>
            <a:noFill/>
          </a:ln>
        </p:spPr>
        <p:txBody>
          <a:bodyPr wrap="square" lIns="101600" tIns="101600" rIns="101600" bIns="101600" anchor="t"/>
          <a:lstStyle/>
          <a:p>
            <a:pPr algn="l">
              <a:lnSpc>
                <a:spcPct val="120000"/>
              </a:lnSpc>
            </a:pPr>
            <a:r>
              <a:rPr lang="en-US" sz="1100" b="1" dirty="0">
                <a:solidFill>
                  <a:srgbClr val="8AB4F8"/>
                </a:solidFill>
                <a:latin typeface="Google Sans Mono"/>
                <a:cs typeface="Google Sans Mono"/>
              </a:rPr>
              <a:t>GOOGLE CLOUD NEXT '27  |  DEVELOPER SESSION  |  AGENTS CLI v1.8+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11200" y="1460500"/>
            <a:ext cx="10769600" cy="1841500"/>
          </a:xfrm>
          <a:prstGeom prst="rect">
            <a:avLst/>
          </a:prstGeom>
          <a:noFill/>
          <a:ln>
            <a:noFill/>
          </a:ln>
        </p:spPr>
        <p:txBody>
          <a:bodyPr wrap="square" lIns="101600" tIns="101600" rIns="101600" bIns="101600" anchor="t"/>
          <a:lstStyle/>
          <a:p>
            <a:pPr algn="l">
              <a:lnSpc>
                <a:spcPct val="120000"/>
              </a:lnSpc>
            </a:pPr>
            <a:r>
              <a:rPr lang="en-US" sz="46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Every agent framework.</a:t>
            </a:r>
          </a:p>
          <a:p>
            <a:pPr algn="l">
              <a:lnSpc>
                <a:spcPct val="120000"/>
              </a:lnSpc>
            </a:pPr>
            <a:r>
              <a:rPr lang="en-US" sz="4600" b="1" dirty="0">
                <a:solidFill>
                  <a:srgbClr val="8AB4F8"/>
                </a:solidFill>
                <a:latin typeface="Google Sans Display"/>
                <a:cs typeface="Google Sans Display"/>
              </a:rPr>
              <a:t>One production lifecycle.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11200" y="3492500"/>
            <a:ext cx="10414000" cy="952500"/>
          </a:xfrm>
          <a:prstGeom prst="rect">
            <a:avLst/>
          </a:prstGeom>
          <a:noFill/>
          <a:ln>
            <a:noFill/>
          </a:ln>
        </p:spPr>
        <p:txBody>
          <a:bodyPr wrap="square" lIns="101600" tIns="101600" rIns="101600" bIns="101600" anchor="t"/>
          <a:lstStyle/>
          <a:p>
            <a:pPr algn="l">
              <a:lnSpc>
                <a:spcPct val="120000"/>
              </a:lnSpc>
            </a:pPr>
            <a:r>
              <a:rPr lang="en-US" sz="1700" b="0" dirty="0">
                <a:solidFill>
                  <a:srgbClr val="BDC1C6"/>
                </a:solidFill>
                <a:latin typeface="Google Sans Text"/>
                <a:cs typeface="Google Sans Text"/>
              </a:rPr>
              <a:t>Running LangChain, LangGraph, and custom enterprise governance policies natively on Google Cloud with the Agents CLI Extension System.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11200" y="5778500"/>
            <a:ext cx="10769600" cy="482600"/>
          </a:xfrm>
          <a:prstGeom prst="roundRect">
            <a:avLst>
              <a:gd name="adj" fmla="val 50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127000" tIns="127000" rIns="127000" bIns="127000" anchor="t"/>
          <a:lstStyle/>
          <a:p>
            <a:pPr algn="l">
              <a:lnSpc>
                <a:spcPct val="120000"/>
              </a:lnSpc>
            </a:pPr>
            <a:r>
              <a:rPr lang="en-US" sz="1200" b="1" dirty="0">
                <a:solidFill>
                  <a:srgbClr val="81C995"/>
                </a:solidFill>
                <a:latin typeface="Google Sans Mono"/>
                <a:cs typeface="Google Sans Mono"/>
              </a:rPr>
              <a:t>Live Repo: github.com/sanketbisne/scalfod-langgraph-agentscli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180"/>
                      </p:stCondLst>
                      <p:childTnLst>
                        <p:par>
                          <p:cTn id="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360"/>
                      </p:stCondLst>
                      <p:childTnLst>
                        <p:par>
                          <p:cTn id="1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540"/>
                      </p:stCondLst>
                      <p:childTnLst>
                        <p:par>
                          <p:cTn id="1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0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3048000" cy="762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048000" y="0"/>
            <a:ext cx="3048000" cy="762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Shape 4"/>
          <p:cNvSpPr/>
          <p:nvPr/>
        </p:nvSpPr>
        <p:spPr>
          <a:xfrm>
            <a:off x="6096000" y="0"/>
            <a:ext cx="3048000" cy="762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Shape 5"/>
          <p:cNvSpPr/>
          <p:nvPr/>
        </p:nvSpPr>
        <p:spPr>
          <a:xfrm>
            <a:off x="9144000" y="0"/>
            <a:ext cx="3048000" cy="762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609600" y="279400"/>
            <a:ext cx="762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solidFill>
                  <a:srgbClr val="8AB4F8"/>
                </a:solidFill>
                <a:latin typeface="Google Sans"/>
                <a:cs typeface="Google Sans"/>
              </a:rPr>
              <a:t>BY THE NUMBERS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668000" y="279400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9AA0A6"/>
                </a:solidFill>
                <a:latin typeface="Google Sans Mono"/>
                <a:cs typeface="Google Sans Mono"/>
              </a:rPr>
              <a:t>02 / 10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9600" y="584200"/>
            <a:ext cx="10972800" cy="6096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Decoupling the lifecycle from the runtime.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09600" y="1168400"/>
            <a:ext cx="10972800" cy="431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300" b="0" dirty="0">
                <a:solidFill>
                  <a:srgbClr val="BDC1C6"/>
                </a:solidFill>
                <a:latin typeface="Google Sans Text"/>
                <a:cs typeface="Google Sans Text"/>
              </a:rPr>
              <a:t>Out of 24 CLI commands, 18 are framework-agnostic and only 6 touch the agent runtime.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9600" y="1841500"/>
            <a:ext cx="3505200" cy="4191000"/>
          </a:xfrm>
          <a:prstGeom prst="roundRect">
            <a:avLst>
              <a:gd name="adj" fmla="val 50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900" b="1" dirty="0">
                <a:solidFill>
                  <a:srgbClr val="8AB4F8"/>
                </a:solidFill>
                <a:latin typeface="Google Sans Mono"/>
                <a:cs typeface="Google Sans Mono"/>
              </a:rPr>
              <a:t>PRODUCTION LIFECYCLE</a:t>
            </a:r>
          </a:p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18+ Native Commands</a:t>
            </a:r>
          </a:p>
          <a:p>
            <a:pPr algn="l">
              <a:lnSpc>
                <a:spcPct val="120000"/>
              </a:lnSpc>
            </a:pPr>
            <a:r>
              <a:rPr lang="en-US" sz="600" b="0" dirty="0">
                <a:solidFill>
                  <a:srgbClr val="9AA0A6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9AA0A6"/>
                </a:solidFill>
                <a:latin typeface="Google Sans Text"/>
                <a:cs typeface="Google Sans Text"/>
              </a:rPr>
              <a:t>deploy, eval grade, eval compare, infra, scaffold, lint, and login work unchanged across ADK, LangChain, and LangGraph.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343400" y="1841500"/>
            <a:ext cx="3505200" cy="4191000"/>
          </a:xfrm>
          <a:prstGeom prst="roundRect">
            <a:avLst>
              <a:gd name="adj" fmla="val 50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900" b="1" dirty="0">
                <a:solidFill>
                  <a:srgbClr val="81C995"/>
                </a:solidFill>
                <a:latin typeface="Google Sans Mono"/>
                <a:cs typeface="Google Sans Mono"/>
              </a:rPr>
              <a:t>RUNTIME INTERCEPTION</a:t>
            </a:r>
          </a:p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6 Overridden Commands</a:t>
            </a:r>
          </a:p>
          <a:p>
            <a:pPr algn="l">
              <a:lnSpc>
                <a:spcPct val="120000"/>
              </a:lnSpc>
            </a:pPr>
            <a:r>
              <a:rPr lang="en-US" sz="600" b="0" dirty="0">
                <a:solidFill>
                  <a:srgbClr val="9AA0A6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9AA0A6"/>
                </a:solidFill>
                <a:latin typeface="Google Sans Text"/>
                <a:cs typeface="Google Sans Text"/>
              </a:rPr>
              <a:t>run, playground, eval.generate, and publish hot-swap via a single agents-cli-extension.yaml manifest.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077200" y="1841500"/>
            <a:ext cx="3505200" cy="4191000"/>
          </a:xfrm>
          <a:prstGeom prst="roundRect">
            <a:avLst>
              <a:gd name="adj" fmla="val 50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900" b="1" dirty="0">
                <a:solidFill>
                  <a:srgbClr val="FDD663"/>
                </a:solidFill>
                <a:latin typeface="Google Sans Mono"/>
                <a:cs typeface="Google Sans Mono"/>
              </a:rPr>
              <a:t>PURE LANGGRAPH</a:t>
            </a:r>
          </a:p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0% ADK Lock-In</a:t>
            </a:r>
          </a:p>
          <a:p>
            <a:pPr algn="l">
              <a:lnSpc>
                <a:spcPct val="120000"/>
              </a:lnSpc>
            </a:pPr>
            <a:r>
              <a:rPr lang="en-US" sz="600" b="0" dirty="0">
                <a:solidFill>
                  <a:srgbClr val="9AA0A6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9AA0A6"/>
                </a:solidFill>
                <a:latin typeface="Google Sans Text"/>
                <a:cs typeface="Google Sans Text"/>
              </a:rPr>
              <a:t>Zero google-adk dependency required in pyproject.toml. Pure LangChain and LangGraph code in production.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180"/>
                      </p:stCondLst>
                      <p:childTnLst>
                        <p:par>
                          <p:cTn id="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360"/>
                      </p:stCondLst>
                      <p:childTnLst>
                        <p:par>
                          <p:cTn id="1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540"/>
                      </p:stCondLst>
                      <p:childTnLst>
                        <p:par>
                          <p:cTn id="1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720"/>
                      </p:stCondLst>
                      <p:childTnLst>
                        <p:par>
                          <p:cTn id="2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900"/>
                      </p:stCondLst>
                      <p:childTnLst>
                        <p:par>
                          <p:cTn id="2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1080"/>
                      </p:stCondLst>
                      <p:childTnLst>
                        <p:par>
                          <p:cTn id="2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3048000" cy="762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048000" y="0"/>
            <a:ext cx="3048000" cy="762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Shape 4"/>
          <p:cNvSpPr/>
          <p:nvPr/>
        </p:nvSpPr>
        <p:spPr>
          <a:xfrm>
            <a:off x="6096000" y="0"/>
            <a:ext cx="3048000" cy="762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Shape 5"/>
          <p:cNvSpPr/>
          <p:nvPr/>
        </p:nvSpPr>
        <p:spPr>
          <a:xfrm>
            <a:off x="9144000" y="0"/>
            <a:ext cx="3048000" cy="762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609600" y="279400"/>
            <a:ext cx="762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solidFill>
                  <a:srgbClr val="1A73E8"/>
                </a:solidFill>
                <a:latin typeface="Google Sans"/>
                <a:cs typeface="Google Sans"/>
              </a:rPr>
              <a:t>THE FRAMEWORK LOCK-IN PROBLEM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668000" y="279400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5F6368"/>
                </a:solidFill>
                <a:latin typeface="Google Sans Mono"/>
                <a:cs typeface="Google Sans Mono"/>
              </a:rPr>
              <a:t>03 / 10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9600" y="584200"/>
            <a:ext cx="10972800" cy="6096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202124"/>
                </a:solidFill>
                <a:latin typeface="Google Sans Display"/>
                <a:cs typeface="Google Sans Display"/>
              </a:rPr>
              <a:t>Ending the tradeoff between velocity and choice.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09600" y="1168400"/>
            <a:ext cx="10972800" cy="431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300" b="0" dirty="0">
                <a:solidFill>
                  <a:srgbClr val="5F6368"/>
                </a:solidFill>
                <a:latin typeface="Google Sans Text"/>
                <a:cs typeface="Google Sans Text"/>
              </a:rPr>
              <a:t>Teams want Google Cloud deployment, Vertex AI evaluation, and A2A serving without rewriting LangGraph agents.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9600" y="1841500"/>
            <a:ext cx="3505200" cy="419100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900" b="1" dirty="0">
                <a:solidFill>
                  <a:srgbClr val="C5221F"/>
                </a:solidFill>
                <a:latin typeface="Google Sans Mono"/>
                <a:cs typeface="Google Sans Mono"/>
              </a:rPr>
              <a:t>LEGACY PATH 1</a:t>
            </a:r>
          </a:p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202124"/>
                </a:solidFill>
                <a:latin typeface="Google Sans Display"/>
                <a:cs typeface="Google Sans Display"/>
              </a:rPr>
              <a:t>Forking the CLI</a:t>
            </a:r>
          </a:p>
          <a:p>
            <a:pPr algn="l">
              <a:lnSpc>
                <a:spcPct val="120000"/>
              </a:lnSpc>
            </a:pPr>
            <a:r>
              <a:rPr lang="en-US" sz="600" b="0" dirty="0">
                <a:solidFill>
                  <a:srgbClr val="5F6368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5F6368"/>
                </a:solidFill>
                <a:latin typeface="Google Sans Text"/>
                <a:cs typeface="Google Sans Text"/>
              </a:rPr>
              <a:t>Maintain a divergent internal copy and manually rebase on every upstream release.</a:t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5F6368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5F6368"/>
                </a:solidFill>
                <a:latin typeface="Google Sans Text"/>
                <a:cs typeface="Google Sans Text"/>
              </a:rPr>
              <a:t>Result: Permanent maintenance tax.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343400" y="1841500"/>
            <a:ext cx="3505200" cy="419100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900" b="1" dirty="0">
                <a:solidFill>
                  <a:srgbClr val="B06000"/>
                </a:solidFill>
                <a:latin typeface="Google Sans Mono"/>
                <a:cs typeface="Google Sans Mono"/>
              </a:rPr>
              <a:t>LEGACY PATH 2</a:t>
            </a:r>
          </a:p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202124"/>
                </a:solidFill>
                <a:latin typeface="Google Sans Display"/>
                <a:cs typeface="Google Sans Display"/>
              </a:rPr>
              <a:t>Custom Wrapper Scripts</a:t>
            </a:r>
          </a:p>
          <a:p>
            <a:pPr algn="l">
              <a:lnSpc>
                <a:spcPct val="120000"/>
              </a:lnSpc>
            </a:pPr>
            <a:r>
              <a:rPr lang="en-US" sz="600" b="0" dirty="0">
                <a:solidFill>
                  <a:srgbClr val="5F6368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5F6368"/>
                </a:solidFill>
                <a:latin typeface="Google Sans Text"/>
                <a:cs typeface="Google Sans Text"/>
              </a:rPr>
              <a:t>Build parallel shell scripts around the CLI. Developers and coding agents call native CLI directly.</a:t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5F6368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5F6368"/>
                </a:solidFill>
                <a:latin typeface="Google Sans Text"/>
                <a:cs typeface="Google Sans Text"/>
              </a:rPr>
              <a:t>Result: Bypassed governance gates.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077200" y="1841500"/>
            <a:ext cx="3505200" cy="4191000"/>
          </a:xfrm>
          <a:prstGeom prst="roundRect">
            <a:avLst>
              <a:gd name="adj" fmla="val 5000"/>
            </a:avLst>
          </a:prstGeom>
          <a:solidFill>
            <a:srgbClr val="E8F0FE"/>
          </a:solidFill>
          <a:ln w="12700">
            <a:solidFill>
              <a:srgbClr val="1A73E8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900" b="1" dirty="0">
                <a:solidFill>
                  <a:srgbClr val="1A73E8"/>
                </a:solidFill>
                <a:latin typeface="Google Sans Mono"/>
                <a:cs typeface="Google Sans Mono"/>
              </a:rPr>
              <a:t>CLOUD NEXT '27 STANDARD</a:t>
            </a:r>
          </a:p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202124"/>
                </a:solidFill>
                <a:latin typeface="Google Sans Display"/>
                <a:cs typeface="Google Sans Display"/>
              </a:rPr>
              <a:t>Agents CLI Extensions</a:t>
            </a:r>
          </a:p>
          <a:p>
            <a:pPr algn="l">
              <a:lnSpc>
                <a:spcPct val="120000"/>
              </a:lnSpc>
            </a:pPr>
            <a:r>
              <a:rPr lang="en-US" sz="600" b="0" dirty="0">
                <a:solidFill>
                  <a:srgbClr val="202124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202124"/>
                </a:solidFill>
                <a:latin typeface="Google Sans Text"/>
                <a:cs typeface="Google Sans Text"/>
              </a:rPr>
              <a:t>Declarative agents-cli-extension.yaml overrides commands in-place, pinned by exact Git commit SHA.</a:t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202124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202124"/>
                </a:solidFill>
                <a:latin typeface="Google Sans Text"/>
                <a:cs typeface="Google Sans Text"/>
              </a:rPr>
              <a:t>Result: Zero fork + 100% enforcement.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180"/>
                      </p:stCondLst>
                      <p:childTnLst>
                        <p:par>
                          <p:cTn id="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360"/>
                      </p:stCondLst>
                      <p:childTnLst>
                        <p:par>
                          <p:cTn id="1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540"/>
                      </p:stCondLst>
                      <p:childTnLst>
                        <p:par>
                          <p:cTn id="1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720"/>
                      </p:stCondLst>
                      <p:childTnLst>
                        <p:par>
                          <p:cTn id="2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900"/>
                      </p:stCondLst>
                      <p:childTnLst>
                        <p:par>
                          <p:cTn id="2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1080"/>
                      </p:stCondLst>
                      <p:childTnLst>
                        <p:par>
                          <p:cTn id="2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3048000" cy="762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048000" y="0"/>
            <a:ext cx="3048000" cy="762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Shape 4"/>
          <p:cNvSpPr/>
          <p:nvPr/>
        </p:nvSpPr>
        <p:spPr>
          <a:xfrm>
            <a:off x="6096000" y="0"/>
            <a:ext cx="3048000" cy="762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Shape 5"/>
          <p:cNvSpPr/>
          <p:nvPr/>
        </p:nvSpPr>
        <p:spPr>
          <a:xfrm>
            <a:off x="9144000" y="0"/>
            <a:ext cx="3048000" cy="762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609600" y="279400"/>
            <a:ext cx="762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solidFill>
                  <a:srgbClr val="137333"/>
                </a:solidFill>
                <a:latin typeface="Google Sans"/>
                <a:cs typeface="Google Sans"/>
              </a:rPr>
              <a:t>COMMAND SURFACE ARCHITECTURE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668000" y="279400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5F6368"/>
                </a:solidFill>
                <a:latin typeface="Google Sans Mono"/>
                <a:cs typeface="Google Sans Mono"/>
              </a:rPr>
              <a:t>04 / 10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9600" y="584200"/>
            <a:ext cx="10972800" cy="6096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202124"/>
                </a:solidFill>
                <a:latin typeface="Google Sans Display"/>
                <a:cs typeface="Google Sans Display"/>
              </a:rPr>
              <a:t>Inside the Agents CLI Command Surface (6 vs. 18 Split)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09600" y="1168400"/>
            <a:ext cx="10972800" cy="431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300" b="0" dirty="0">
                <a:solidFill>
                  <a:srgbClr val="5F6368"/>
                </a:solidFill>
                <a:latin typeface="Google Sans Text"/>
                <a:cs typeface="Google Sans Text"/>
              </a:rPr>
              <a:t>A single agents-cli-extension.yaml swaps only the 6 runtime commands and keeps the 18 production commands intact.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9600" y="1841500"/>
            <a:ext cx="5334000" cy="4191000"/>
          </a:xfrm>
          <a:prstGeom prst="roundRect">
            <a:avLst>
              <a:gd name="adj" fmla="val 5000"/>
            </a:avLst>
          </a:prstGeom>
          <a:solidFill>
            <a:srgbClr val="F8FAFF"/>
          </a:solidFill>
          <a:ln w="12700">
            <a:solidFill>
              <a:srgbClr val="4285F4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900" b="1" dirty="0">
                <a:solidFill>
                  <a:srgbClr val="1967D2"/>
                </a:solidFill>
                <a:latin typeface="Google Sans Mono"/>
                <a:cs typeface="Google Sans Mono"/>
              </a:rPr>
              <a:t>[↑ LANGCHAIN] OVERRIDES</a:t>
            </a:r>
          </a:p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202124"/>
                </a:solidFill>
                <a:latin typeface="Google Sans Display"/>
                <a:cs typeface="Google Sans Display"/>
              </a:rPr>
              <a:t>6 Framework-Coupled Commands</a:t>
            </a:r>
          </a:p>
          <a:p>
            <a:pPr algn="l">
              <a:lnSpc>
                <a:spcPct val="120000"/>
              </a:lnSpc>
            </a:pPr>
            <a:r>
              <a:rPr lang="en-US" sz="600" b="0" dirty="0">
                <a:solidFill>
                  <a:srgbClr val="3C4043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3C4043"/>
                </a:solidFill>
                <a:latin typeface="Google Sans Text"/>
                <a:cs typeface="Google Sans Text"/>
              </a:rPr>
              <a:t>- run -&gt; uv run python scripts/run.py</a:t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3C4043"/>
                </a:solidFill>
                <a:latin typeface="Google Sans Text"/>
                <a:cs typeface="Google Sans Text"/>
              </a:rPr>
              <a:t>- playground -&gt; uv run langgraph dev --port 8080</a:t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3C4043"/>
                </a:solidFill>
                <a:latin typeface="Google Sans Text"/>
                <a:cs typeface="Google Sans Text"/>
              </a:rPr>
              <a:t>- eval.generate -&gt; uv run python scripts/eval_generate.py</a:t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3C4043"/>
                </a:solidFill>
                <a:latin typeface="Google Sans Text"/>
                <a:cs typeface="Google Sans Text"/>
              </a:rPr>
              <a:t>- publish.gemini-enterprise -&gt; scripts/publish.py</a:t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3C4043"/>
                </a:solidFill>
                <a:latin typeface="Google Sans Text"/>
                <a:cs typeface="Google Sans Text"/>
              </a:rPr>
              <a:t>- eval.dataset / eval.optimize -&gt; Clean refusal wrapper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248400" y="1841500"/>
            <a:ext cx="5334000" cy="4191000"/>
          </a:xfrm>
          <a:prstGeom prst="roundRect">
            <a:avLst>
              <a:gd name="adj" fmla="val 5000"/>
            </a:avLst>
          </a:prstGeom>
          <a:solidFill>
            <a:srgbClr val="F6FEF8"/>
          </a:solidFill>
          <a:ln w="12700">
            <a:solidFill>
              <a:srgbClr val="34A853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900" b="1" dirty="0">
                <a:solidFill>
                  <a:srgbClr val="137333"/>
                </a:solidFill>
                <a:latin typeface="Google Sans Mono"/>
                <a:cs typeface="Google Sans Mono"/>
              </a:rPr>
              <a:t>NATIVE BUILT-IN COMMANDS</a:t>
            </a:r>
          </a:p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202124"/>
                </a:solidFill>
                <a:latin typeface="Google Sans Display"/>
                <a:cs typeface="Google Sans Display"/>
              </a:rPr>
              <a:t>18+ Framework-Agnostic Commands</a:t>
            </a:r>
          </a:p>
          <a:p>
            <a:pPr algn="l">
              <a:lnSpc>
                <a:spcPct val="120000"/>
              </a:lnSpc>
            </a:pPr>
            <a:r>
              <a:rPr lang="en-US" sz="600" b="0" dirty="0">
                <a:solidFill>
                  <a:srgbClr val="3C4043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3C4043"/>
                </a:solidFill>
                <a:latin typeface="Google Sans Text"/>
                <a:cs typeface="Google Sans Text"/>
              </a:rPr>
              <a:t>- deploy (Cloud Run / GKE via FastAPI A2A)</a:t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3C4043"/>
                </a:solidFill>
                <a:latin typeface="Google Sans Text"/>
                <a:cs typeface="Google Sans Text"/>
              </a:rPr>
              <a:t>- eval grade / eval compare / eval analyze (Vertex AI)</a:t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3C4043"/>
                </a:solidFill>
                <a:latin typeface="Google Sans Text"/>
                <a:cs typeface="Google Sans Text"/>
              </a:rPr>
              <a:t>- infra (Terraform modules)</a:t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3C4043"/>
                </a:solidFill>
                <a:latin typeface="Google Sans Text"/>
                <a:cs typeface="Google Sans Text"/>
              </a:rPr>
              <a:t>- scaffold create / enhance / upgrade</a:t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3C4043"/>
                </a:solidFill>
                <a:latin typeface="Google Sans Text"/>
                <a:cs typeface="Google Sans Text"/>
              </a:rPr>
              <a:t>- extension add / list / update / remove</a:t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3C4043"/>
                </a:solidFill>
                <a:latin typeface="Google Sans Text"/>
                <a:cs typeface="Google Sans Text"/>
              </a:rPr>
              <a:t>- install / info / lint / login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180"/>
                      </p:stCondLst>
                      <p:childTnLst>
                        <p:par>
                          <p:cTn id="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360"/>
                      </p:stCondLst>
                      <p:childTnLst>
                        <p:par>
                          <p:cTn id="1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540"/>
                      </p:stCondLst>
                      <p:childTnLst>
                        <p:par>
                          <p:cTn id="1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720"/>
                      </p:stCondLst>
                      <p:childTnLst>
                        <p:par>
                          <p:cTn id="2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900"/>
                      </p:stCondLst>
                      <p:childTnLst>
                        <p:par>
                          <p:cTn id="2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0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3048000" cy="762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048000" y="0"/>
            <a:ext cx="3048000" cy="762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Shape 4"/>
          <p:cNvSpPr/>
          <p:nvPr/>
        </p:nvSpPr>
        <p:spPr>
          <a:xfrm>
            <a:off x="6096000" y="0"/>
            <a:ext cx="3048000" cy="762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Shape 5"/>
          <p:cNvSpPr/>
          <p:nvPr/>
        </p:nvSpPr>
        <p:spPr>
          <a:xfrm>
            <a:off x="9144000" y="0"/>
            <a:ext cx="3048000" cy="762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609600" y="279400"/>
            <a:ext cx="762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solidFill>
                  <a:srgbClr val="8AB4F8"/>
                </a:solidFill>
                <a:latin typeface="Google Sans"/>
                <a:cs typeface="Google Sans"/>
              </a:rPr>
              <a:t>LIVE DEMO | ACT 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668000" y="279400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9AA0A6"/>
                </a:solidFill>
                <a:latin typeface="Google Sans Mono"/>
                <a:cs typeface="Google Sans Mono"/>
              </a:rPr>
              <a:t>05 / 10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9600" y="584200"/>
            <a:ext cx="10972800" cy="6096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Scaffold a pure LangGraph project in one command.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09600" y="1168400"/>
            <a:ext cx="10972800" cy="431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300" b="0" dirty="0">
                <a:solidFill>
                  <a:srgbClr val="BDC1C6"/>
                </a:solidFill>
                <a:latin typeface="Google Sans Text"/>
                <a:cs typeface="Google Sans Text"/>
              </a:rPr>
              <a:t>Scaffolding and extension installation happen together with zero google-adk dependency.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9600" y="1841500"/>
            <a:ext cx="10972800" cy="4191000"/>
          </a:xfrm>
          <a:prstGeom prst="roundRect">
            <a:avLst>
              <a:gd name="adj" fmla="val 5000"/>
            </a:avLst>
          </a:prstGeom>
          <a:solidFill>
            <a:srgbClr val="131314"/>
          </a:solidFill>
          <a:ln w="12700">
            <a:solidFill>
              <a:srgbClr val="3C4043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solidFill>
                  <a:srgbClr val="8AB4F8"/>
                </a:solidFill>
                <a:latin typeface="Google Sans"/>
                <a:cs typeface="Google Sans"/>
              </a:rPr>
              <a:t>TERMINAL  |  SCAFFOLD &amp; VERIFY ZERO ADK LOCK-IN</a:t>
            </a:r>
          </a:p>
          <a:p>
            <a:pPr algn="l">
              <a:lnSpc>
                <a:spcPct val="120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# 1. Scaffold directly from the first-party LangChain extension template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$ agents-cli create scalfod-langgraph-agentscli \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--agent google/agents-cli/extensions/langchain/template@v1.8.0 \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-d cloud_run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$ cd scalfod-langgraph-agentscli &amp;&amp; agents-cli install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Agents CLI v1.8.0 | Fetching remote template: google/agents-cli/extensions/langchain/template@v1.8.0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&gt; Connected to project: your-project | Your agent project is ready.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# 2. Verify zero google-adk dependency in pyproject.toml and app/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$ grep -r "google.adk\|google-adk" pyproject.toml app/ ; echo "exit: $?"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exit: 1   # Verified: Zero google-adk dependency!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180"/>
                      </p:stCondLst>
                      <p:childTnLst>
                        <p:par>
                          <p:cTn id="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360"/>
                      </p:stCondLst>
                      <p:childTnLst>
                        <p:par>
                          <p:cTn id="1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540"/>
                      </p:stCondLst>
                      <p:childTnLst>
                        <p:par>
                          <p:cTn id="1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720"/>
                      </p:stCondLst>
                      <p:childTnLst>
                        <p:par>
                          <p:cTn id="2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3048000" cy="762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048000" y="0"/>
            <a:ext cx="3048000" cy="762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Shape 4"/>
          <p:cNvSpPr/>
          <p:nvPr/>
        </p:nvSpPr>
        <p:spPr>
          <a:xfrm>
            <a:off x="6096000" y="0"/>
            <a:ext cx="3048000" cy="762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Shape 5"/>
          <p:cNvSpPr/>
          <p:nvPr/>
        </p:nvSpPr>
        <p:spPr>
          <a:xfrm>
            <a:off x="9144000" y="0"/>
            <a:ext cx="3048000" cy="762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609600" y="279400"/>
            <a:ext cx="762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solidFill>
                  <a:srgbClr val="B06000"/>
                </a:solidFill>
                <a:latin typeface="Google Sans"/>
                <a:cs typeface="Google Sans"/>
              </a:rPr>
              <a:t>CODEBASE ARCHITECTURE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668000" y="279400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5F6368"/>
                </a:solidFill>
                <a:latin typeface="Google Sans Mono"/>
                <a:cs typeface="Google Sans Mono"/>
              </a:rPr>
              <a:t>06 / 10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9600" y="584200"/>
            <a:ext cx="10972800" cy="6096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202124"/>
                </a:solidFill>
                <a:latin typeface="Google Sans Display"/>
                <a:cs typeface="Google Sans Display"/>
              </a:rPr>
              <a:t>Project Structure &amp; LangGraph CompiledStateGraph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09600" y="1168400"/>
            <a:ext cx="10972800" cy="431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300" b="0" dirty="0">
                <a:solidFill>
                  <a:srgbClr val="5F6368"/>
                </a:solidFill>
                <a:latin typeface="Google Sans Text"/>
                <a:cs typeface="Google Sans Text"/>
              </a:rPr>
              <a:t>In LangChain 1.0+, create_agent compiles directly into a LangGraph CompiledStateGraph.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9600" y="1841500"/>
            <a:ext cx="5334000" cy="4191000"/>
          </a:xfrm>
          <a:prstGeom prst="roundRect">
            <a:avLst>
              <a:gd name="adj" fmla="val 5000"/>
            </a:avLst>
          </a:prstGeom>
          <a:solidFill>
            <a:srgbClr val="131314"/>
          </a:solidFill>
          <a:ln w="12700">
            <a:solidFill>
              <a:srgbClr val="3C4043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solidFill>
                  <a:srgbClr val="FDD663"/>
                </a:solidFill>
                <a:latin typeface="Google Sans"/>
                <a:cs typeface="Google Sans"/>
              </a:rPr>
              <a:t>PROJECT STRUCTURE</a:t>
            </a:r>
          </a:p>
          <a:p>
            <a:pPr algn="l">
              <a:lnSpc>
                <a:spcPct val="120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scalfod-langgraph-agentscli/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├── agents-cli-extension.yaml  # Project overrides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├── agents-cli-manifest.yaml   # Target: cloud_run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├── langgraph.json             # LangGraph Studio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├── pyproject.toml             # Zero google-adk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├── Dockerfile                 # FastAPI A2A :8080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├── app/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│   ├── agent.py               # CompiledStateGraph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│   ├── tools.py               # DeepCite tools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│   ├── fast_api_app.py        # FastAPI A2A server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│   └── app_utils/a2a.py       # /.well-known/agent.json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└── extensions/sbom-deploy/    # Custom SBOM gate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248400" y="1841500"/>
            <a:ext cx="5334000" cy="4191000"/>
          </a:xfrm>
          <a:prstGeom prst="roundRect">
            <a:avLst>
              <a:gd name="adj" fmla="val 5000"/>
            </a:avLst>
          </a:prstGeom>
          <a:solidFill>
            <a:srgbClr val="131314"/>
          </a:solidFill>
          <a:ln w="12700">
            <a:solidFill>
              <a:srgbClr val="3C4043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solidFill>
                  <a:srgbClr val="81C995"/>
                </a:solidFill>
                <a:latin typeface="Google Sans"/>
                <a:cs typeface="Google Sans"/>
              </a:rPr>
              <a:t>app/agent.py</a:t>
            </a:r>
          </a:p>
          <a:p>
            <a:pPr algn="l">
              <a:lnSpc>
                <a:spcPct val="120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from langchain.agents import create_agent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from langchain_google_genai import ChatGoogleGenerativeAI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from langgraph.graph.state import CompiledStateGraph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llm = ChatGoogleGenerativeAI(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model="gemini-2.5-flash", temperature=0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)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root_agent: CompiledStateGraph = create_agent(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model=llm,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tools=[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    create_research_plan,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    search_curated_kb,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    search_arxiv_papers,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    critique_research_draft,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],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system_prompt=SYSTEM_PROMPT,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)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180"/>
                      </p:stCondLst>
                      <p:childTnLst>
                        <p:par>
                          <p:cTn id="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360"/>
                      </p:stCondLst>
                      <p:childTnLst>
                        <p:par>
                          <p:cTn id="1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540"/>
                      </p:stCondLst>
                      <p:childTnLst>
                        <p:par>
                          <p:cTn id="1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720"/>
                      </p:stCondLst>
                      <p:childTnLst>
                        <p:par>
                          <p:cTn id="2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900"/>
                      </p:stCondLst>
                      <p:childTnLst>
                        <p:par>
                          <p:cTn id="2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3048000" cy="762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048000" y="0"/>
            <a:ext cx="3048000" cy="762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Shape 4"/>
          <p:cNvSpPr/>
          <p:nvPr/>
        </p:nvSpPr>
        <p:spPr>
          <a:xfrm>
            <a:off x="6096000" y="0"/>
            <a:ext cx="3048000" cy="762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Shape 5"/>
          <p:cNvSpPr/>
          <p:nvPr/>
        </p:nvSpPr>
        <p:spPr>
          <a:xfrm>
            <a:off x="9144000" y="0"/>
            <a:ext cx="3048000" cy="762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609600" y="279400"/>
            <a:ext cx="762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solidFill>
                  <a:srgbClr val="1A73E8"/>
                </a:solidFill>
                <a:latin typeface="Google Sans"/>
                <a:cs typeface="Google Sans"/>
              </a:rPr>
              <a:t>REFERENCE WORKLOAD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668000" y="279400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5F6368"/>
                </a:solidFill>
                <a:latin typeface="Google Sans Mono"/>
                <a:cs typeface="Google Sans Mono"/>
              </a:rPr>
              <a:t>07 / 10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9600" y="584200"/>
            <a:ext cx="10972800" cy="6096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202124"/>
                </a:solidFill>
                <a:latin typeface="Google Sans Display"/>
                <a:cs typeface="Google Sans Display"/>
              </a:rPr>
              <a:t>DeepCite Architecture (Plan -&gt; Search -&gt; Critique -&gt; Report)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09600" y="1168400"/>
            <a:ext cx="10972800" cy="431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300" b="0" dirty="0">
                <a:solidFill>
                  <a:srgbClr val="5F6368"/>
                </a:solidFill>
                <a:latin typeface="Google Sans Text"/>
                <a:cs typeface="Google Sans Text"/>
              </a:rPr>
              <a:t>Iterative self-reflection loop that enforces multi-source retrieval and citation verification.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9600" y="1841500"/>
            <a:ext cx="2590800" cy="419100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 w="12700">
            <a:solidFill>
              <a:srgbClr val="4285F4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900" b="1" dirty="0">
                <a:solidFill>
                  <a:srgbClr val="1A73E8"/>
                </a:solidFill>
                <a:latin typeface="Google Sans Mono"/>
                <a:cs typeface="Google Sans Mono"/>
              </a:rPr>
              <a:t>01 | PLAN</a:t>
            </a:r>
          </a:p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202124"/>
                </a:solidFill>
                <a:latin typeface="Google Sans Display"/>
                <a:cs typeface="Google Sans Display"/>
              </a:rPr>
              <a:t>create_research_plan</a:t>
            </a:r>
          </a:p>
          <a:p>
            <a:pPr algn="l">
              <a:lnSpc>
                <a:spcPct val="120000"/>
              </a:lnSpc>
            </a:pPr>
            <a:r>
              <a:rPr lang="en-US" sz="600" b="0" dirty="0">
                <a:solidFill>
                  <a:srgbClr val="5F6368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5F6368"/>
                </a:solidFill>
                <a:latin typeface="Google Sans Text"/>
                <a:cs typeface="Google Sans Text"/>
              </a:rPr>
              <a:t>Decomposes complex prompts into 3 targeted sub-questions and recommends search queries.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403600" y="1841500"/>
            <a:ext cx="2590800" cy="419100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 w="12700">
            <a:solidFill>
              <a:srgbClr val="FBBC04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900" b="1" dirty="0">
                <a:solidFill>
                  <a:srgbClr val="B06000"/>
                </a:solidFill>
                <a:latin typeface="Google Sans Mono"/>
                <a:cs typeface="Google Sans Mono"/>
              </a:rPr>
              <a:t>02 | SEARCH</a:t>
            </a:r>
          </a:p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202124"/>
                </a:solidFill>
                <a:latin typeface="Google Sans Display"/>
                <a:cs typeface="Google Sans Display"/>
              </a:rPr>
              <a:t>search_curated_kb / arxiv</a:t>
            </a:r>
          </a:p>
          <a:p>
            <a:pPr algn="l">
              <a:lnSpc>
                <a:spcPct val="120000"/>
              </a:lnSpc>
            </a:pPr>
            <a:r>
              <a:rPr lang="en-US" sz="600" b="0" dirty="0">
                <a:solidFill>
                  <a:srgbClr val="5F6368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5F6368"/>
                </a:solidFill>
                <a:latin typeface="Google Sans Text"/>
                <a:cs typeface="Google Sans Text"/>
              </a:rPr>
              <a:t>Retrieves grounded evidence with explicit IDs ([KB-...], [ARXIV-...], [WIKI-...]) and offline fallbacks.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197600" y="1841500"/>
            <a:ext cx="2590800" cy="419100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 w="12700">
            <a:solidFill>
              <a:srgbClr val="EA4335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900" b="1" dirty="0">
                <a:solidFill>
                  <a:srgbClr val="C5221F"/>
                </a:solidFill>
                <a:latin typeface="Google Sans Mono"/>
                <a:cs typeface="Google Sans Mono"/>
              </a:rPr>
              <a:t>03 | CRITIQUE</a:t>
            </a:r>
          </a:p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202124"/>
                </a:solidFill>
                <a:latin typeface="Google Sans Display"/>
                <a:cs typeface="Google Sans Display"/>
              </a:rPr>
              <a:t>critique_research_draft</a:t>
            </a:r>
          </a:p>
          <a:p>
            <a:pPr algn="l">
              <a:lnSpc>
                <a:spcPct val="120000"/>
              </a:lnSpc>
            </a:pPr>
            <a:r>
              <a:rPr lang="en-US" sz="600" b="0" dirty="0">
                <a:solidFill>
                  <a:srgbClr val="5F6368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5F6368"/>
                </a:solidFill>
                <a:latin typeface="Google Sans Text"/>
                <a:cs typeface="Google Sans Text"/>
              </a:rPr>
              <a:t>Audits draft claims for &gt;= 2 distinct citations and depth; triggers revision if incomplete.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8991600" y="1841500"/>
            <a:ext cx="2590800" cy="4191000"/>
          </a:xfrm>
          <a:prstGeom prst="roundRect">
            <a:avLst>
              <a:gd name="adj" fmla="val 5000"/>
            </a:avLst>
          </a:prstGeom>
          <a:solidFill>
            <a:srgbClr val="F8F9FA"/>
          </a:solidFill>
          <a:ln w="12700">
            <a:solidFill>
              <a:srgbClr val="34A853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900" b="1" dirty="0">
                <a:solidFill>
                  <a:srgbClr val="137333"/>
                </a:solidFill>
                <a:latin typeface="Google Sans Mono"/>
                <a:cs typeface="Google Sans Mono"/>
              </a:rPr>
              <a:t>04 | REPORT</a:t>
            </a:r>
          </a:p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202124"/>
                </a:solidFill>
                <a:latin typeface="Google Sans Display"/>
                <a:cs typeface="Google Sans Display"/>
              </a:rPr>
              <a:t>Cited Markdown Output</a:t>
            </a:r>
          </a:p>
          <a:p>
            <a:pPr algn="l">
              <a:lnSpc>
                <a:spcPct val="120000"/>
              </a:lnSpc>
            </a:pPr>
            <a:r>
              <a:rPr lang="en-US" sz="600" b="0" dirty="0">
                <a:solidFill>
                  <a:srgbClr val="5F6368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5F6368"/>
                </a:solidFill>
                <a:latin typeface="Google Sans Text"/>
                <a:cs typeface="Google Sans Text"/>
              </a:rPr>
              <a:t>Synthesizes final Markdown brief with inline [SOURCE_ID] tags and a verified ## References section.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180"/>
                      </p:stCondLst>
                      <p:childTnLst>
                        <p:par>
                          <p:cTn id="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360"/>
                      </p:stCondLst>
                      <p:childTnLst>
                        <p:par>
                          <p:cTn id="1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540"/>
                      </p:stCondLst>
                      <p:childTnLst>
                        <p:par>
                          <p:cTn id="1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720"/>
                      </p:stCondLst>
                      <p:childTnLst>
                        <p:par>
                          <p:cTn id="2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900"/>
                      </p:stCondLst>
                      <p:childTnLst>
                        <p:par>
                          <p:cTn id="2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1080"/>
                      </p:stCondLst>
                      <p:childTnLst>
                        <p:par>
                          <p:cTn id="2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1260"/>
                      </p:stCondLst>
                      <p:childTnLst>
                        <p:par>
                          <p:cTn id="3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0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3048000" cy="762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048000" y="0"/>
            <a:ext cx="3048000" cy="762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Shape 4"/>
          <p:cNvSpPr/>
          <p:nvPr/>
        </p:nvSpPr>
        <p:spPr>
          <a:xfrm>
            <a:off x="6096000" y="0"/>
            <a:ext cx="3048000" cy="762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Shape 5"/>
          <p:cNvSpPr/>
          <p:nvPr/>
        </p:nvSpPr>
        <p:spPr>
          <a:xfrm>
            <a:off x="9144000" y="0"/>
            <a:ext cx="3048000" cy="762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609600" y="279400"/>
            <a:ext cx="762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solidFill>
                  <a:srgbClr val="81C995"/>
                </a:solidFill>
                <a:latin typeface="Google Sans"/>
                <a:cs typeface="Google Sans"/>
              </a:rPr>
              <a:t>LIVE DEMO | ACT 2 &amp; ACT 3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668000" y="279400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9AA0A6"/>
                </a:solidFill>
                <a:latin typeface="Google Sans Mono"/>
                <a:cs typeface="Google Sans Mono"/>
              </a:rPr>
              <a:t>08 / 10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9600" y="584200"/>
            <a:ext cx="10972800" cy="6096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LangGraph Studio &amp; Vertex AI Evaluations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09600" y="1168400"/>
            <a:ext cx="10972800" cy="431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300" b="0" dirty="0">
                <a:solidFill>
                  <a:srgbClr val="BDC1C6"/>
                </a:solidFill>
                <a:latin typeface="Google Sans Text"/>
                <a:cs typeface="Google Sans Text"/>
              </a:rPr>
              <a:t>Boot LangGraph Studio via agents-cli playground and grade traces with Vertex AI Eval Service.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9600" y="1841500"/>
            <a:ext cx="5334000" cy="4191000"/>
          </a:xfrm>
          <a:prstGeom prst="roundRect">
            <a:avLst>
              <a:gd name="adj" fmla="val 5000"/>
            </a:avLst>
          </a:prstGeom>
          <a:solidFill>
            <a:srgbClr val="131314"/>
          </a:solidFill>
          <a:ln w="12700">
            <a:solidFill>
              <a:srgbClr val="3C4043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solidFill>
                  <a:srgbClr val="8AB4F8"/>
                </a:solidFill>
                <a:latin typeface="Google Sans"/>
                <a:cs typeface="Google Sans"/>
              </a:rPr>
              <a:t>1. RUN &amp; INSPECT IN LANGGRAPH STUDIO</a:t>
            </a:r>
          </a:p>
          <a:p>
            <a:pPr algn="l">
              <a:lnSpc>
                <a:spcPct val="120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$ agents-cli --help | grep -E "playground|run "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playground  Start LangGraph server. [↑ langchain]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run         Run compiled graph.     [↑ langchain]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$ agents-cli info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$ agents-cli run "How do extensions work?"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WARNING:root:agents-cli: applying 6 extension command(s)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$ agents-cli playground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&gt; Boots LangGraph Studio on http://localhost:8080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248400" y="1841500"/>
            <a:ext cx="5334000" cy="4191000"/>
          </a:xfrm>
          <a:prstGeom prst="roundRect">
            <a:avLst>
              <a:gd name="adj" fmla="val 5000"/>
            </a:avLst>
          </a:prstGeom>
          <a:solidFill>
            <a:srgbClr val="131314"/>
          </a:solidFill>
          <a:ln w="12700">
            <a:solidFill>
              <a:srgbClr val="3C4043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solidFill>
                  <a:srgbClr val="81C995"/>
                </a:solidFill>
                <a:latin typeface="Google Sans"/>
                <a:cs typeface="Google Sans"/>
              </a:rPr>
              <a:t>2. OVERRIDDEN GENERATE + NATIVE GRADE</a:t>
            </a:r>
          </a:p>
          <a:p>
            <a:pPr algn="l">
              <a:lnSpc>
                <a:spcPct val="120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# Overridden: Drives LangGraph CompiledStateGraph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$ agents-cli eval generate \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--dataset tests/eval/datasets/basic-dataset.json \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-o tests/eval/output/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# Native: Scores traces via Vertex AI Eval Service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$ agents-cli eval grade \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--traces tests/eval/output/basic-dataset.json \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--config tests/eval/eval_config.yaml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# Clean refusal on ADK-only simulator: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$ agents-cli eval dataset synthesize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180"/>
                      </p:stCondLst>
                      <p:childTnLst>
                        <p:par>
                          <p:cTn id="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360"/>
                      </p:stCondLst>
                      <p:childTnLst>
                        <p:par>
                          <p:cTn id="1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540"/>
                      </p:stCondLst>
                      <p:childTnLst>
                        <p:par>
                          <p:cTn id="1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720"/>
                      </p:stCondLst>
                      <p:childTnLst>
                        <p:par>
                          <p:cTn id="2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900"/>
                      </p:stCondLst>
                      <p:childTnLst>
                        <p:par>
                          <p:cTn id="2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0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3048000" cy="762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048000" y="0"/>
            <a:ext cx="3048000" cy="762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Shape 4"/>
          <p:cNvSpPr/>
          <p:nvPr/>
        </p:nvSpPr>
        <p:spPr>
          <a:xfrm>
            <a:off x="6096000" y="0"/>
            <a:ext cx="3048000" cy="762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Shape 5"/>
          <p:cNvSpPr/>
          <p:nvPr/>
        </p:nvSpPr>
        <p:spPr>
          <a:xfrm>
            <a:off x="9144000" y="0"/>
            <a:ext cx="3048000" cy="762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609600" y="279400"/>
            <a:ext cx="762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solidFill>
                  <a:srgbClr val="F28B82"/>
                </a:solidFill>
                <a:latin typeface="Google Sans"/>
                <a:cs typeface="Google Sans"/>
              </a:rPr>
              <a:t>LIVE DEMO | ACT 4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668000" y="279400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9AA0A6"/>
                </a:solidFill>
                <a:latin typeface="Google Sans Mono"/>
                <a:cs typeface="Google Sans Mono"/>
              </a:rPr>
              <a:t>09 / 10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9600" y="584200"/>
            <a:ext cx="10972800" cy="6096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Authoring Custom Enterprise Extensions (sbom-deploy)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09600" y="1168400"/>
            <a:ext cx="10972800" cy="431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300" b="0" dirty="0">
                <a:solidFill>
                  <a:srgbClr val="BDC1C6"/>
                </a:solidFill>
                <a:latin typeface="Google Sans Text"/>
                <a:cs typeface="Google Sans Text"/>
              </a:rPr>
              <a:t>AGENTS_CLI_DISABLE_OVERRIDES=1 lets wrapper scripts run Syft + Grype checks and call native deploy without recursion.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9600" y="1841500"/>
            <a:ext cx="5334000" cy="4191000"/>
          </a:xfrm>
          <a:prstGeom prst="roundRect">
            <a:avLst>
              <a:gd name="adj" fmla="val 5000"/>
            </a:avLst>
          </a:prstGeom>
          <a:solidFill>
            <a:srgbClr val="131314"/>
          </a:solidFill>
          <a:ln w="12700">
            <a:solidFill>
              <a:srgbClr val="3C4043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solidFill>
                  <a:srgbClr val="FDD663"/>
                </a:solidFill>
                <a:latin typeface="Google Sans"/>
                <a:cs typeface="Google Sans"/>
              </a:rPr>
              <a:t>extensions/sbom-deploy/agents-cli-extension.yaml</a:t>
            </a:r>
          </a:p>
          <a:p>
            <a:pPr algn="l">
              <a:lnSpc>
                <a:spcPct val="120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schema: agents-cli-extension/v1alpha1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name: sbom-deploy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description: Scan project SBOM, then run native deploy.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requires: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agents_cli: "&gt;=1.5,&lt;2"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on_incompatible: warn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commands: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override: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deploy: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  run: ["bash", "scripts/sbom_then_deploy.sh"]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add: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sbom-report: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      run: ["bash", "scripts/sbom_report.sh"]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248400" y="1841500"/>
            <a:ext cx="5334000" cy="4191000"/>
          </a:xfrm>
          <a:prstGeom prst="roundRect">
            <a:avLst>
              <a:gd name="adj" fmla="val 5000"/>
            </a:avLst>
          </a:prstGeom>
          <a:solidFill>
            <a:srgbClr val="131314"/>
          </a:solidFill>
          <a:ln w="12700">
            <a:solidFill>
              <a:srgbClr val="3C4043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solidFill>
                  <a:srgbClr val="81C995"/>
                </a:solidFill>
                <a:latin typeface="Google Sans"/>
                <a:cs typeface="Google Sans"/>
              </a:rPr>
              <a:t>extensions/sbom-deploy/scripts/sbom_then_deploy.sh</a:t>
            </a:r>
          </a:p>
          <a:p>
            <a:pPr algn="l">
              <a:lnSpc>
                <a:spcPct val="120000"/>
              </a:lnSpc>
            </a:pPr>
            <a:r>
              <a:rPr lang="en-US" sz="4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#!/usr/bin/env bash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set -euo pipefail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echo "[sbom-deploy] Generating CycloneDX SBOM..."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syft dir:. -o cyclonedx-json &gt; /tmp/sbom.cdx.json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echo "[sbom-deploy] Scanning for critical CVEs..."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grype sbom:/tmp/sbom.cdx.json --fail-on critical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# Loader sets AGENTS_CLI_DISABLE_OVERRIDES=1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# Delegates to built-in deploy with zero recursion!</a:t>
            </a:r>
          </a:p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E8EAED"/>
                </a:solidFill>
                <a:latin typeface="Google Sans Mono"/>
                <a:cs typeface="Google Sans Mono"/>
              </a:rPr>
              <a:t>exec agents-cli deploy "$@"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180"/>
                      </p:stCondLst>
                      <p:childTnLst>
                        <p:par>
                          <p:cTn id="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360"/>
                      </p:stCondLst>
                      <p:childTnLst>
                        <p:par>
                          <p:cTn id="1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540"/>
                      </p:stCondLst>
                      <p:childTnLst>
                        <p:par>
                          <p:cTn id="1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720"/>
                      </p:stCondLst>
                      <p:childTnLst>
                        <p:par>
                          <p:cTn id="2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900"/>
                      </p:stCondLst>
                      <p:childTnLst>
                        <p:par>
                          <p:cTn id="2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01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3048000" cy="76200"/>
          </a:xfrm>
          <a:prstGeom prst="rect">
            <a:avLst/>
          </a:prstGeom>
          <a:solidFill>
            <a:srgbClr val="4285F4"/>
          </a:solidFill>
          <a:ln>
            <a:noFill/>
          </a:ln>
        </p:spPr>
      </p:sp>
      <p:sp>
        <p:nvSpPr>
          <p:cNvPr id="3" name="Shape 3"/>
          <p:cNvSpPr/>
          <p:nvPr/>
        </p:nvSpPr>
        <p:spPr>
          <a:xfrm>
            <a:off x="3048000" y="0"/>
            <a:ext cx="3048000" cy="76200"/>
          </a:xfrm>
          <a:prstGeom prst="rect">
            <a:avLst/>
          </a:prstGeom>
          <a:solidFill>
            <a:srgbClr val="EA4335"/>
          </a:solidFill>
          <a:ln>
            <a:noFill/>
          </a:ln>
        </p:spPr>
      </p:sp>
      <p:sp>
        <p:nvSpPr>
          <p:cNvPr id="4" name="Shape 4"/>
          <p:cNvSpPr/>
          <p:nvPr/>
        </p:nvSpPr>
        <p:spPr>
          <a:xfrm>
            <a:off x="6096000" y="0"/>
            <a:ext cx="3048000" cy="76200"/>
          </a:xfrm>
          <a:prstGeom prst="rect">
            <a:avLst/>
          </a:prstGeom>
          <a:solidFill>
            <a:srgbClr val="FBBC04"/>
          </a:solidFill>
          <a:ln>
            <a:noFill/>
          </a:ln>
        </p:spPr>
      </p:sp>
      <p:sp>
        <p:nvSpPr>
          <p:cNvPr id="5" name="Shape 5"/>
          <p:cNvSpPr/>
          <p:nvPr/>
        </p:nvSpPr>
        <p:spPr>
          <a:xfrm>
            <a:off x="9144000" y="0"/>
            <a:ext cx="3048000" cy="76200"/>
          </a:xfrm>
          <a:prstGeom prst="rect">
            <a:avLst/>
          </a:prstGeom>
          <a:solidFill>
            <a:srgbClr val="34A853"/>
          </a:solidFill>
          <a:ln>
            <a:noFill/>
          </a:ln>
        </p:spPr>
      </p:sp>
      <p:sp>
        <p:nvSpPr>
          <p:cNvPr id="6" name="TextBox 6"/>
          <p:cNvSpPr txBox="1"/>
          <p:nvPr/>
        </p:nvSpPr>
        <p:spPr>
          <a:xfrm>
            <a:off x="609600" y="279400"/>
            <a:ext cx="762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000" b="1" dirty="0">
                <a:solidFill>
                  <a:srgbClr val="8AB4F8"/>
                </a:solidFill>
                <a:latin typeface="Google Sans"/>
                <a:cs typeface="Google Sans"/>
              </a:rPr>
              <a:t>GOOGLE CLOUD NEXT '27 SUMMARY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668000" y="279400"/>
            <a:ext cx="914400" cy="304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000" b="0" dirty="0">
                <a:solidFill>
                  <a:srgbClr val="9AA0A6"/>
                </a:solidFill>
                <a:latin typeface="Google Sans Mono"/>
                <a:cs typeface="Google Sans Mono"/>
              </a:rPr>
              <a:t>10 / 10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09600" y="584200"/>
            <a:ext cx="10972800" cy="6096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28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The Open Agent Development Lifecycle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09600" y="1168400"/>
            <a:ext cx="10972800" cy="431800"/>
          </a:xfrm>
          <a:prstGeom prst="rect">
            <a:avLst/>
          </a:prstGeom>
          <a:noFill/>
          <a:ln>
            <a:noFill/>
          </a:ln>
        </p:spPr>
        <p:txBody>
          <a:bodyPr wrap="square" lIns="25400" tIns="25400" rIns="25400" bIns="25400" anchor="t"/>
          <a:lstStyle/>
          <a:p>
            <a:pPr algn="l">
              <a:lnSpc>
                <a:spcPct val="120000"/>
              </a:lnSpc>
            </a:pPr>
            <a:r>
              <a:rPr lang="en-US" sz="1300" b="0" dirty="0">
                <a:solidFill>
                  <a:srgbClr val="BDC1C6"/>
                </a:solidFill>
                <a:latin typeface="Google Sans Text"/>
                <a:cs typeface="Google Sans Text"/>
              </a:rPr>
              <a:t>Clone &amp; Run Live: github.com/sanketbisne/scalfod-langgraph-agentscli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9600" y="1778000"/>
            <a:ext cx="3505200" cy="1968500"/>
          </a:xfrm>
          <a:prstGeom prst="roundRect">
            <a:avLst>
              <a:gd name="adj" fmla="val 50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900" b="1" dirty="0">
                <a:solidFill>
                  <a:srgbClr val="8AB4F8"/>
                </a:solidFill>
                <a:latin typeface="Google Sans Mono"/>
                <a:cs typeface="Google Sans Mono"/>
              </a:rPr>
              <a:t>01 | OPEN FRAMEWORKS</a:t>
            </a:r>
          </a:p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LangChain &amp; LangGraph</a:t>
            </a:r>
          </a:p>
          <a:p>
            <a:pPr algn="l">
              <a:lnSpc>
                <a:spcPct val="120000"/>
              </a:lnSpc>
            </a:pPr>
            <a:r>
              <a:rPr lang="en-US" sz="600" b="0" dirty="0">
                <a:solidFill>
                  <a:srgbClr val="9AA0A6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9AA0A6"/>
                </a:solidFill>
                <a:latin typeface="Google Sans Text"/>
                <a:cs typeface="Google Sans Text"/>
              </a:rPr>
              <a:t>First-party template with zero google-adk dependency and unified CompiledStateGraph.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343400" y="1778000"/>
            <a:ext cx="3505200" cy="1968500"/>
          </a:xfrm>
          <a:prstGeom prst="roundRect">
            <a:avLst>
              <a:gd name="adj" fmla="val 50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900" b="1" dirty="0">
                <a:solidFill>
                  <a:srgbClr val="81C995"/>
                </a:solidFill>
                <a:latin typeface="Google Sans Mono"/>
                <a:cs typeface="Google Sans Mono"/>
              </a:rPr>
              <a:t>02 | VISUAL DEBUGGING</a:t>
            </a:r>
          </a:p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LangGraph Studio</a:t>
            </a:r>
          </a:p>
          <a:p>
            <a:pPr algn="l">
              <a:lnSpc>
                <a:spcPct val="120000"/>
              </a:lnSpc>
            </a:pPr>
            <a:r>
              <a:rPr lang="en-US" sz="600" b="0" dirty="0">
                <a:solidFill>
                  <a:srgbClr val="9AA0A6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9AA0A6"/>
                </a:solidFill>
                <a:latin typeface="Google Sans Text"/>
                <a:cs typeface="Google Sans Text"/>
              </a:rPr>
              <a:t>agents-cli playground launches LangGraph server on port 8080.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8077200" y="1778000"/>
            <a:ext cx="3505200" cy="1968500"/>
          </a:xfrm>
          <a:prstGeom prst="roundRect">
            <a:avLst>
              <a:gd name="adj" fmla="val 50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900" b="1" dirty="0">
                <a:solidFill>
                  <a:srgbClr val="FDD663"/>
                </a:solidFill>
                <a:latin typeface="Google Sans Mono"/>
                <a:cs typeface="Google Sans Mono"/>
              </a:rPr>
              <a:t>03 | QUALITY FLYWHEEL</a:t>
            </a:r>
          </a:p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Vertex AI Evaluations</a:t>
            </a:r>
          </a:p>
          <a:p>
            <a:pPr algn="l">
              <a:lnSpc>
                <a:spcPct val="120000"/>
              </a:lnSpc>
            </a:pPr>
            <a:r>
              <a:rPr lang="en-US" sz="600" b="0" dirty="0">
                <a:solidFill>
                  <a:srgbClr val="9AA0A6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9AA0A6"/>
                </a:solidFill>
                <a:latin typeface="Google Sans Text"/>
                <a:cs typeface="Google Sans Text"/>
              </a:rPr>
              <a:t>Overridden eval generate pairs with native Vertex AI eval grade.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09600" y="4000500"/>
            <a:ext cx="3505200" cy="1968500"/>
          </a:xfrm>
          <a:prstGeom prst="roundRect">
            <a:avLst>
              <a:gd name="adj" fmla="val 50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900" b="1" dirty="0">
                <a:solidFill>
                  <a:srgbClr val="F28B82"/>
                </a:solidFill>
                <a:latin typeface="Google Sans Mono"/>
                <a:cs typeface="Google Sans Mono"/>
              </a:rPr>
              <a:t>04 | POLICY AS CODE</a:t>
            </a:r>
          </a:p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SBOM Pre-Deploy Gates</a:t>
            </a:r>
          </a:p>
          <a:p>
            <a:pPr algn="l">
              <a:lnSpc>
                <a:spcPct val="120000"/>
              </a:lnSpc>
            </a:pPr>
            <a:r>
              <a:rPr lang="en-US" sz="600" b="0" dirty="0">
                <a:solidFill>
                  <a:srgbClr val="9AA0A6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9AA0A6"/>
                </a:solidFill>
                <a:latin typeface="Google Sans Text"/>
                <a:cs typeface="Google Sans Text"/>
              </a:rPr>
              <a:t>Syft + Grype checks with AGENTS_CLI_DISABLE_OVERRIDES=1.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343400" y="4000500"/>
            <a:ext cx="3505200" cy="1968500"/>
          </a:xfrm>
          <a:prstGeom prst="roundRect">
            <a:avLst>
              <a:gd name="adj" fmla="val 50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900" b="1" dirty="0">
                <a:solidFill>
                  <a:srgbClr val="8AB4F8"/>
                </a:solidFill>
                <a:latin typeface="Google Sans Mono"/>
                <a:cs typeface="Google Sans Mono"/>
              </a:rPr>
              <a:t>05 | SUPPLY CHAIN</a:t>
            </a:r>
          </a:p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SHA Lockfile Pinning</a:t>
            </a:r>
          </a:p>
          <a:p>
            <a:pPr algn="l">
              <a:lnSpc>
                <a:spcPct val="120000"/>
              </a:lnSpc>
            </a:pPr>
            <a:r>
              <a:rPr lang="en-US" sz="600" b="0" dirty="0">
                <a:solidFill>
                  <a:srgbClr val="9AA0A6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9AA0A6"/>
                </a:solidFill>
                <a:latin typeface="Google Sans Text"/>
                <a:cs typeface="Google Sans Text"/>
              </a:rPr>
              <a:t>Bit-for-bit reproducible CI via agents-cli-extensions.yaml.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8077200" y="4000500"/>
            <a:ext cx="3505200" cy="1968500"/>
          </a:xfrm>
          <a:prstGeom prst="roundRect">
            <a:avLst>
              <a:gd name="adj" fmla="val 5000"/>
            </a:avLst>
          </a:prstGeom>
          <a:solidFill>
            <a:srgbClr val="161922"/>
          </a:solidFill>
          <a:ln w="12700">
            <a:solidFill>
              <a:srgbClr val="2D3343"/>
            </a:solidFill>
          </a:ln>
        </p:spPr>
        <p:txBody>
          <a:bodyPr wrap="square" lIns="177800" tIns="177800" rIns="177800" bIns="177800" anchor="t"/>
          <a:lstStyle/>
          <a:p>
            <a:pPr algn="l">
              <a:lnSpc>
                <a:spcPct val="120000"/>
              </a:lnSpc>
            </a:pPr>
            <a:r>
              <a:rPr lang="en-US" sz="900" b="1" dirty="0">
                <a:solidFill>
                  <a:srgbClr val="81C995"/>
                </a:solidFill>
                <a:latin typeface="Google Sans Mono"/>
                <a:cs typeface="Google Sans Mono"/>
              </a:rPr>
              <a:t>06 | PRODUCTION SERVING</a:t>
            </a:r>
          </a:p>
          <a:p>
            <a:pPr algn="l">
              <a:lnSpc>
                <a:spcPct val="120000"/>
              </a:lnSpc>
            </a:pPr>
            <a:r>
              <a:rPr lang="en-US" sz="1700" b="1" dirty="0">
                <a:solidFill>
                  <a:srgbClr val="FFFFFF"/>
                </a:solidFill>
                <a:latin typeface="Google Sans Display"/>
                <a:cs typeface="Google Sans Display"/>
              </a:rPr>
              <a:t>Cloud Run + A2A</a:t>
            </a:r>
          </a:p>
          <a:p>
            <a:pPr algn="l">
              <a:lnSpc>
                <a:spcPct val="120000"/>
              </a:lnSpc>
            </a:pPr>
            <a:r>
              <a:rPr lang="en-US" sz="600" b="0" dirty="0">
                <a:solidFill>
                  <a:srgbClr val="9AA0A6"/>
                </a:solidFill>
                <a:latin typeface="Google Sans Text"/>
                <a:cs typeface="Google Sans Text"/>
              </a:rPr>
              <a:t/>
            </a:r>
          </a:p>
          <a:p>
            <a:pPr algn="l">
              <a:lnSpc>
                <a:spcPct val="120000"/>
              </a:lnSpc>
            </a:pPr>
            <a:r>
              <a:rPr lang="en-US" sz="1100" b="0" dirty="0">
                <a:solidFill>
                  <a:srgbClr val="9AA0A6"/>
                </a:solidFill>
                <a:latin typeface="Google Sans Text"/>
                <a:cs typeface="Google Sans Text"/>
              </a:rPr>
              <a:t>Standard FastAPI + A2A container contract on port 8080.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180"/>
                      </p:stCondLst>
                      <p:childTnLst>
                        <p:par>
                          <p:cTn id="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360"/>
                      </p:stCondLst>
                      <p:childTnLst>
                        <p:par>
                          <p:cTn id="1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540"/>
                      </p:stCondLst>
                      <p:childTnLst>
                        <p:par>
                          <p:cTn id="1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720"/>
                      </p:stCondLst>
                      <p:childTnLst>
                        <p:par>
                          <p:cTn id="2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900"/>
                      </p:stCondLst>
                      <p:childTnLst>
                        <p:par>
                          <p:cTn id="24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1080"/>
                      </p:stCondLst>
                      <p:childTnLst>
                        <p:par>
                          <p:cTn id="28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1260"/>
                      </p:stCondLst>
                      <p:childTnLst>
                        <p:par>
                          <p:cTn id="32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1440"/>
                      </p:stCondLst>
                      <p:childTnLst>
                        <p:par>
                          <p:cTn id="36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8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1620"/>
                      </p:stCondLst>
                      <p:childTnLst>
                        <p:par>
                          <p:cTn id="40" presetID="10" presetClass="entr" presetSubtype="0" fill="hold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4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2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GoogleCloudNext27">
  <a:themeElements>
    <a:clrScheme name="GoogleCloud">
      <a:dk1>
        <a:srgbClr val="202124"/>
      </a:dk1>
      <a:lt1>
        <a:srgbClr val="FFFFFF"/>
      </a:lt1>
      <a:dk2>
        <a:srgbClr val="0E1015"/>
      </a:dk2>
      <a:lt2>
        <a:srgbClr val="F8F9FA"/>
      </a:lt2>
      <a:accent1>
        <a:srgbClr val="4285F4"/>
      </a:accent1>
      <a:accent2>
        <a:srgbClr val="EA4335"/>
      </a:accent2>
      <a:accent3>
        <a:srgbClr val="FBBC04"/>
      </a:accent3>
      <a:accent4>
        <a:srgbClr val="34A853"/>
      </a:accent4>
      <a:accent5>
        <a:srgbClr val="8AB4F8"/>
      </a:accent5>
      <a:accent6>
        <a:srgbClr val="81C995"/>
      </a:accent6>
      <a:hlink>
        <a:srgbClr val="4285F4"/>
      </a:hlink>
      <a:folHlink>
        <a:srgbClr val="9B72CB"/>
      </a:folHlink>
    </a:clrScheme>
    <a:fontScheme name="GoogleSansScheme">
      <a:majorFont>
        <a:latin typeface="Google Sans Display"/>
        <a:ea typeface=""/>
        <a:cs typeface=""/>
      </a:majorFont>
      <a:minorFont>
        <a:latin typeface="Google Sans Text"/>
        <a:ea typeface=""/>
        <a:cs typeface=""/>
      </a:minorFont>
    </a:fontScheme>
    <a:fmtScheme name="GoogleForma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