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711200" y="457200"/>
            <a:ext cx="3683000" cy="330200"/>
          </a:xfrm>
          <a:prstGeom prst="roundRect">
            <a:avLst>
              <a:gd name="adj" fmla="val 50000"/>
            </a:avLst>
          </a:prstGeom>
          <a:solidFill>
            <a:srgbClr val="162038"/>
          </a:solidFill>
          <a:ln w="12700">
            <a:solidFill>
              <a:srgbClr val="3B5998"/>
            </a:solidFill>
          </a:ln>
        </p:spPr>
        <p:txBody>
          <a:bodyPr wrap="square" lIns="152400" tIns="50800" rIns="152400" bIns="508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Google Cloud Next '27  •  Developer Session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4546600" y="457200"/>
            <a:ext cx="1651000" cy="330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50800" rIns="50800" bIns="50800" anchor="ctr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agents-cli v1.8+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10668000" y="457200"/>
            <a:ext cx="8128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50800" rIns="0" bIns="50800" anchor="ctr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01 / 10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711200" y="14986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8AB4F8"/>
                </a:solidFill>
                <a:latin typeface="Google Sans"/>
                <a:cs typeface="Google Sans"/>
              </a:rPr>
              <a:t>POWERING THE AGENT DEVELOPMENT LIFECYCLE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711200" y="1879600"/>
            <a:ext cx="107696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</a:pPr>
            <a:r>
              <a:rPr lang="en-US" sz="44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Every agent framework.</a:t>
            </a:r>
          </a:p>
          <a:p>
            <a:pPr algn="l">
              <a:lnSpc>
                <a:spcPct val="110000"/>
              </a:lnSpc>
            </a:pPr>
            <a:r>
              <a:rPr lang="en-US" sz="4400" b="1" dirty="0">
                <a:solidFill>
                  <a:srgbClr val="4285F4"/>
                </a:solidFill>
                <a:latin typeface="Google Sans Display"/>
                <a:cs typeface="Google Sans Display"/>
              </a:rPr>
              <a:t>One </a:t>
            </a:r>
            <a:r>
              <a:rPr lang="en-US" sz="4400" b="1" dirty="0">
                <a:solidFill>
                  <a:srgbClr val="9B72CB"/>
                </a:solidFill>
                <a:latin typeface="Google Sans Display"/>
                <a:cs typeface="Google Sans Display"/>
              </a:rPr>
              <a:t>production </a:t>
            </a:r>
            <a:r>
              <a:rPr lang="en-US" sz="4400" b="1" dirty="0">
                <a:solidFill>
                  <a:srgbClr val="D96570"/>
                </a:solidFill>
                <a:latin typeface="Google Sans Display"/>
                <a:cs typeface="Google Sans Display"/>
              </a:rPr>
              <a:t>lifecycle.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711200" y="3746500"/>
            <a:ext cx="9652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30000"/>
              </a:lnSpc>
            </a:pPr>
            <a:r>
              <a:rPr lang="en-US" sz="1600" b="0" dirty="0">
                <a:solidFill>
                  <a:srgbClr val="BDC1C6"/>
                </a:solidFill>
                <a:latin typeface="Google Sans Text"/>
                <a:cs typeface="Google Sans Text"/>
              </a:rPr>
              <a:t>Running LangChain, LangGraph, and custom enterprise governance policies natively on Google Cloud with the Agents CLI Extension System.</a:t>
            </a:r>
          </a:p>
        </p:txBody>
      </p:sp>
      <p:sp>
        <p:nvSpPr>
          <p:cNvPr id="12" name="Rect 12"/>
          <p:cNvSpPr/>
          <p:nvPr/>
        </p:nvSpPr>
        <p:spPr>
          <a:xfrm>
            <a:off x="711200" y="5905500"/>
            <a:ext cx="107696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711200" y="6096000"/>
            <a:ext cx="5461000" cy="381000"/>
          </a:xfrm>
          <a:prstGeom prst="roundRect">
            <a:avLst>
              <a:gd name="adj" fmla="val 20000"/>
            </a:avLst>
          </a:prstGeom>
          <a:solidFill>
            <a:srgbClr val="1F2430"/>
          </a:solidFill>
          <a:ln w="12700">
            <a:solidFill>
              <a:srgbClr val="2D3343"/>
            </a:solidFill>
          </a:ln>
        </p:spPr>
        <p:txBody>
          <a:bodyPr wrap="square" lIns="152400" tIns="63500" rIns="152400" bIns="63500" anchor="ctr"/>
          <a:lstStyle/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FFFFFF"/>
                </a:solidFill>
                <a:latin typeface="Google Sans Mono"/>
                <a:cs typeface="Google Sans Mono"/>
              </a:rPr>
              <a:t>github.com/sanketbisne/scalfod-langgraph-agentscli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620000" y="6096000"/>
            <a:ext cx="38608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76200" rIns="0" bIns="50800" anchor="ctr"/>
          <a:lstStyle/>
          <a:p>
            <a:pPr algn="r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"/>
                <a:cs typeface="Google Sans"/>
              </a:rPr>
              <a:t>Google Cloud AI &amp; Developer Platform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BY THE NUMBERS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02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Decoupling the lifecycle from the runtime.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Out of 24 CLI commands, 18 are framework-agnostic and only 6 touch the agent runtime.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3505200" cy="431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54000" tIns="279400" rIns="254000" bIns="254000" anchor="t"/>
          <a:lstStyle/>
          <a:p>
            <a:pPr algn="l">
              <a:lnSpc>
                <a:spcPct val="118000"/>
              </a:lnSpc>
            </a:pPr>
            <a:r>
              <a:rPr lang="en-US" sz="5200" b="1" dirty="0">
                <a:solidFill>
                  <a:srgbClr val="8AB4F8"/>
                </a:solidFill>
                <a:latin typeface="Google Sans Display"/>
                <a:cs typeface="Google Sans Display"/>
              </a:rPr>
              <a:t>18+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FFFFFF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"/>
                <a:cs typeface="Google Sans"/>
              </a:rPr>
              <a:t>Framework-Agnostic Commands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deploy, eval grade, eval compare, infra, scaffold, lint, and login work unchanged across ADK, LangChain, and LangGraph.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4343400" y="1651000"/>
            <a:ext cx="3505200" cy="431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54000" tIns="279400" rIns="254000" bIns="254000" anchor="t"/>
          <a:lstStyle/>
          <a:p>
            <a:pPr algn="l">
              <a:lnSpc>
                <a:spcPct val="118000"/>
              </a:lnSpc>
            </a:pPr>
            <a:r>
              <a:rPr lang="en-US" sz="5200" b="1" dirty="0">
                <a:solidFill>
                  <a:srgbClr val="81C995"/>
                </a:solidFill>
                <a:latin typeface="Google Sans Display"/>
                <a:cs typeface="Google Sans Display"/>
              </a:rPr>
              <a:t>6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FFFFFF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"/>
                <a:cs typeface="Google Sans"/>
              </a:rPr>
              <a:t>Runtime Overrides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run, playground, and eval.generate hot-swap via a single agents-cli-extension.yaml manifest at the project root.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8077200" y="1651000"/>
            <a:ext cx="3505200" cy="431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54000" tIns="279400" rIns="254000" bIns="254000" anchor="t"/>
          <a:lstStyle/>
          <a:p>
            <a:pPr algn="l">
              <a:lnSpc>
                <a:spcPct val="118000"/>
              </a:lnSpc>
            </a:pPr>
            <a:r>
              <a:rPr lang="en-US" sz="5200" b="1" dirty="0">
                <a:solidFill>
                  <a:srgbClr val="FDD663"/>
                </a:solidFill>
                <a:latin typeface="Google Sans Display"/>
                <a:cs typeface="Google Sans Display"/>
              </a:rPr>
              <a:t>0%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FFFFFF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"/>
                <a:cs typeface="Google Sans"/>
              </a:rPr>
              <a:t>Framework Lock-In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Zero google-adk dependency required in pyproject.toml. Pure LangChain and LangGraph code in production.</a:t>
            </a:r>
          </a:p>
        </p:txBody>
      </p:sp>
      <p:sp>
        <p:nvSpPr>
          <p:cNvPr id="13" name="Rect 13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4" name="Box 14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Available starting in Agents CLI v1.5+ (Extension System) &amp; v1.8+ (LangChain Template)</a:t>
            </a:r>
          </a:p>
        </p:txBody>
      </p:sp>
      <p:sp>
        <p:nvSpPr>
          <p:cNvPr id="15" name="Box 15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 Mono"/>
                <a:cs typeface="Google Sans Mono"/>
              </a:rPr>
              <a:t>google/agents-cli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80"/>
                            </p:stCondLst>
                            <p:childTnLst>
                              <p:par>
                                <p:cTn id="3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4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A73E8"/>
                </a:solidFill>
                <a:latin typeface="Google Sans"/>
                <a:cs typeface="Google Sans"/>
              </a:rPr>
              <a:t>THE FRAMEWORK LOCK-IN PROBLEM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03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Ending the tradeoff between velocity and choice.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How teams previously adapted opinionated agent toolchains vs. the Agents CLI Extension System:</a:t>
            </a:r>
          </a:p>
        </p:txBody>
      </p:sp>
      <p:sp>
        <p:nvSpPr>
          <p:cNvPr id="10" name="Rect 10"/>
          <p:cNvSpPr/>
          <p:nvPr/>
        </p:nvSpPr>
        <p:spPr>
          <a:xfrm>
            <a:off x="609600" y="1651000"/>
            <a:ext cx="3505200" cy="4318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</p:sp>
      <p:sp>
        <p:nvSpPr>
          <p:cNvPr id="11" name="Box 11"/>
          <p:cNvSpPr txBox="1"/>
          <p:nvPr/>
        </p:nvSpPr>
        <p:spPr>
          <a:xfrm>
            <a:off x="838200" y="1905000"/>
            <a:ext cx="1397000" cy="3048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>
            <a:noFill/>
          </a:ln>
        </p:spPr>
        <p:txBody>
          <a:bodyPr wrap="square" lIns="101600" tIns="38100" rIns="101600" bIns="381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C5221F"/>
                </a:solidFill>
                <a:latin typeface="Google Sans"/>
                <a:cs typeface="Google Sans"/>
              </a:rPr>
              <a:t>Legacy Path 1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838200" y="2362200"/>
            <a:ext cx="3048000" cy="2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600" b="1" dirty="0">
                <a:solidFill>
                  <a:srgbClr val="202124"/>
                </a:solidFill>
                <a:latin typeface="Google Sans"/>
                <a:cs typeface="Google Sans"/>
              </a:rPr>
              <a:t>Forking the CLI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Maintain a divergent internal copy and manually rebase on every upstream release.</a:t>
            </a:r>
          </a:p>
        </p:txBody>
      </p:sp>
      <p:sp>
        <p:nvSpPr>
          <p:cNvPr id="13" name="Rect 13"/>
          <p:cNvSpPr/>
          <p:nvPr/>
        </p:nvSpPr>
        <p:spPr>
          <a:xfrm>
            <a:off x="838200" y="5232400"/>
            <a:ext cx="30480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4" name="Box 14"/>
          <p:cNvSpPr txBox="1"/>
          <p:nvPr/>
        </p:nvSpPr>
        <p:spPr>
          <a:xfrm>
            <a:off x="838200" y="53594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C5221F"/>
                </a:solidFill>
                <a:latin typeface="Google Sans Mono"/>
                <a:cs typeface="Google Sans Mono"/>
              </a:rPr>
              <a:t>Result: Permanent maintenance tax</a:t>
            </a:r>
          </a:p>
        </p:txBody>
      </p:sp>
      <p:sp>
        <p:nvSpPr>
          <p:cNvPr id="15" name="Rect 15"/>
          <p:cNvSpPr/>
          <p:nvPr/>
        </p:nvSpPr>
        <p:spPr>
          <a:xfrm>
            <a:off x="4343400" y="1651000"/>
            <a:ext cx="3505200" cy="4318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</p:sp>
      <p:sp>
        <p:nvSpPr>
          <p:cNvPr id="16" name="Box 16"/>
          <p:cNvSpPr txBox="1"/>
          <p:nvPr/>
        </p:nvSpPr>
        <p:spPr>
          <a:xfrm>
            <a:off x="4572000" y="1905000"/>
            <a:ext cx="1397000" cy="3048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>
            <a:noFill/>
          </a:ln>
        </p:spPr>
        <p:txBody>
          <a:bodyPr wrap="square" lIns="101600" tIns="38100" rIns="101600" bIns="381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B06000"/>
                </a:solidFill>
                <a:latin typeface="Google Sans"/>
                <a:cs typeface="Google Sans"/>
              </a:rPr>
              <a:t>Legacy Path 2</a:t>
            </a:r>
          </a:p>
        </p:txBody>
      </p:sp>
      <p:sp>
        <p:nvSpPr>
          <p:cNvPr id="17" name="Box 17"/>
          <p:cNvSpPr txBox="1"/>
          <p:nvPr/>
        </p:nvSpPr>
        <p:spPr>
          <a:xfrm>
            <a:off x="4572000" y="2362200"/>
            <a:ext cx="3048000" cy="2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600" b="1" dirty="0">
                <a:solidFill>
                  <a:srgbClr val="202124"/>
                </a:solidFill>
                <a:latin typeface="Google Sans"/>
                <a:cs typeface="Google Sans"/>
              </a:rPr>
              <a:t>Custom Wrapper Scripts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Build parallel shell scripts around the CLI. Developers and coding agents call the native CLI directly and bypass policies.</a:t>
            </a:r>
          </a:p>
        </p:txBody>
      </p:sp>
      <p:sp>
        <p:nvSpPr>
          <p:cNvPr id="18" name="Rect 18"/>
          <p:cNvSpPr/>
          <p:nvPr/>
        </p:nvSpPr>
        <p:spPr>
          <a:xfrm>
            <a:off x="4572000" y="5232400"/>
            <a:ext cx="30480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9" name="Box 19"/>
          <p:cNvSpPr txBox="1"/>
          <p:nvPr/>
        </p:nvSpPr>
        <p:spPr>
          <a:xfrm>
            <a:off x="4572000" y="53594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B06000"/>
                </a:solidFill>
                <a:latin typeface="Google Sans Mono"/>
                <a:cs typeface="Google Sans Mono"/>
              </a:rPr>
              <a:t>Result: Bypassed governance gates</a:t>
            </a:r>
          </a:p>
        </p:txBody>
      </p:sp>
      <p:sp>
        <p:nvSpPr>
          <p:cNvPr id="20" name="Rect 20"/>
          <p:cNvSpPr/>
          <p:nvPr/>
        </p:nvSpPr>
        <p:spPr>
          <a:xfrm>
            <a:off x="8077200" y="1651000"/>
            <a:ext cx="3505200" cy="431800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 w="25400">
            <a:solidFill>
              <a:srgbClr val="1A73E8"/>
            </a:solidFill>
          </a:ln>
        </p:spPr>
      </p:sp>
      <p:sp>
        <p:nvSpPr>
          <p:cNvPr id="21" name="Box 21"/>
          <p:cNvSpPr txBox="1"/>
          <p:nvPr/>
        </p:nvSpPr>
        <p:spPr>
          <a:xfrm>
            <a:off x="8305800" y="1905000"/>
            <a:ext cx="1968500" cy="30480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</p:spPr>
        <p:txBody>
          <a:bodyPr wrap="square" lIns="101600" tIns="38100" rIns="101600" bIns="38100" anchor="ctr"/>
          <a:lstStyle/>
          <a:p>
            <a:pPr algn="c">
              <a:lnSpc>
                <a:spcPct val="118000"/>
              </a:lnSpc>
            </a:pPr>
            <a:r>
              <a:rPr lang="en-US" sz="950" b="1" dirty="0">
                <a:solidFill>
                  <a:srgbClr val="FFFFFF"/>
                </a:solidFill>
                <a:latin typeface="Google Sans"/>
                <a:cs typeface="Google Sans"/>
              </a:rPr>
              <a:t>Cloud Next '27 Standard</a:t>
            </a:r>
          </a:p>
        </p:txBody>
      </p:sp>
      <p:sp>
        <p:nvSpPr>
          <p:cNvPr id="22" name="Box 22"/>
          <p:cNvSpPr txBox="1"/>
          <p:nvPr/>
        </p:nvSpPr>
        <p:spPr>
          <a:xfrm>
            <a:off x="8305800" y="2362200"/>
            <a:ext cx="3048000" cy="2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600" b="1" dirty="0">
                <a:solidFill>
                  <a:srgbClr val="202124"/>
                </a:solidFill>
                <a:latin typeface="Google Sans"/>
                <a:cs typeface="Google Sans"/>
              </a:rPr>
              <a:t>Agents CLI Extensions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Declarative agents-cli-extension.yaml overrides commands in-place, pinned by Git commit SHA.</a:t>
            </a:r>
          </a:p>
        </p:txBody>
      </p:sp>
      <p:sp>
        <p:nvSpPr>
          <p:cNvPr id="23" name="Rect 23"/>
          <p:cNvSpPr/>
          <p:nvPr/>
        </p:nvSpPr>
        <p:spPr>
          <a:xfrm>
            <a:off x="8305800" y="5232400"/>
            <a:ext cx="3048000" cy="12700"/>
          </a:xfrm>
          <a:prstGeom prst="rect">
            <a:avLst/>
          </a:prstGeom>
          <a:solidFill>
            <a:srgbClr val="AECBFA"/>
          </a:solidFill>
          <a:ln>
            <a:noFill/>
          </a:ln>
        </p:spPr>
      </p:sp>
      <p:sp>
        <p:nvSpPr>
          <p:cNvPr id="24" name="Box 24"/>
          <p:cNvSpPr txBox="1"/>
          <p:nvPr/>
        </p:nvSpPr>
        <p:spPr>
          <a:xfrm>
            <a:off x="8305800" y="53594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37333"/>
                </a:solidFill>
                <a:latin typeface="Google Sans Mono"/>
                <a:cs typeface="Google Sans Mono"/>
              </a:rPr>
              <a:t>Result: Zero fork + 100% enforcement</a:t>
            </a:r>
          </a:p>
        </p:txBody>
      </p:sp>
      <p:sp>
        <p:nvSpPr>
          <p:cNvPr id="25" name="Rect 25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26" name="Box 26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Distributed directly via Git repositories with zero external registry required</a:t>
            </a:r>
          </a:p>
        </p:txBody>
      </p:sp>
      <p:sp>
        <p:nvSpPr>
          <p:cNvPr id="27" name="Box 27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5F6368"/>
                </a:solidFill>
                <a:latin typeface="Google Sans Mono"/>
                <a:cs typeface="Google Sans Mono"/>
              </a:rPr>
              <a:t>schema: agents-cli-extension/v1alpha1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80"/>
                            </p:stCondLst>
                            <p:childTnLst>
                              <p:par>
                                <p:cTn id="3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80"/>
                            </p:stCondLst>
                            <p:childTnLst>
                              <p:par>
                                <p:cTn id="4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80"/>
                            </p:stCondLst>
                            <p:childTnLst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8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0"/>
                            </p:stCondLst>
                            <p:childTnLst>
                              <p:par>
                                <p:cTn id="5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0"/>
                            </p:stCondLst>
                            <p:childTnLst>
                              <p:par>
                                <p:cTn id="6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1" grpId="0"/>
      <p:bldP spid="12" grpId="0"/>
      <p:bldP spid="14" grpId="0"/>
      <p:bldP spid="16" grpId="0"/>
      <p:bldP spid="17" grpId="0"/>
      <p:bldP spid="19" grpId="0"/>
      <p:bldP spid="21" grpId="0"/>
      <p:bldP spid="22" grpId="0"/>
      <p:bldP spid="24" grpId="0"/>
      <p:bldP spid="26" grpId="0"/>
      <p:bldP spid="2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37333"/>
                </a:solidFill>
                <a:latin typeface="Google Sans"/>
                <a:cs typeface="Google Sans"/>
              </a:rPr>
              <a:t>INSIDE THE COMMAND SURFACE (6 VS. 18 SPLIT)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04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One unified command surface across the stack.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A single agents-cli-extension.yaml swaps only the 6 runtime commands and keeps the 18 production commands intact.</a:t>
            </a:r>
          </a:p>
        </p:txBody>
      </p:sp>
      <p:sp>
        <p:nvSpPr>
          <p:cNvPr id="10" name="Rect 10"/>
          <p:cNvSpPr/>
          <p:nvPr/>
        </p:nvSpPr>
        <p:spPr>
          <a:xfrm>
            <a:off x="609600" y="1549400"/>
            <a:ext cx="10972800" cy="11684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</p:sp>
      <p:sp>
        <p:nvSpPr>
          <p:cNvPr id="11" name="Box 11"/>
          <p:cNvSpPr txBox="1"/>
          <p:nvPr/>
        </p:nvSpPr>
        <p:spPr>
          <a:xfrm>
            <a:off x="812800" y="16510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00" b="1" dirty="0">
                <a:solidFill>
                  <a:srgbClr val="5F6368"/>
                </a:solidFill>
                <a:latin typeface="Google Sans"/>
                <a:cs typeface="Google Sans"/>
              </a:rPr>
              <a:t>1. AGENT AUTHORING LAYER (BRING YOUR OWN FRAMEWORK)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812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1967D2"/>
                </a:solidFill>
                <a:latin typeface="Google Sans"/>
                <a:cs typeface="Google Sans"/>
              </a:rPr>
              <a:t>LangChain 1.0+</a:t>
            </a:r>
          </a:p>
        </p:txBody>
      </p:sp>
      <p:sp>
        <p:nvSpPr>
          <p:cNvPr id="13" name="Box 13"/>
          <p:cNvSpPr txBox="1"/>
          <p:nvPr/>
        </p:nvSpPr>
        <p:spPr>
          <a:xfrm>
            <a:off x="3479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1967D2"/>
                </a:solidFill>
                <a:latin typeface="Google Sans"/>
                <a:cs typeface="Google Sans"/>
              </a:rPr>
              <a:t>LangGraph StateGraph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6146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202124"/>
                </a:solidFill>
                <a:latin typeface="Google Sans"/>
                <a:cs typeface="Google Sans"/>
              </a:rPr>
              <a:t>Deep Agents</a:t>
            </a:r>
          </a:p>
        </p:txBody>
      </p:sp>
      <p:sp>
        <p:nvSpPr>
          <p:cNvPr id="15" name="Box 15"/>
          <p:cNvSpPr txBox="1"/>
          <p:nvPr/>
        </p:nvSpPr>
        <p:spPr>
          <a:xfrm>
            <a:off x="8813800" y="1981200"/>
            <a:ext cx="2514600" cy="533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ADCE0"/>
            </a:solidFill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50" b="1" dirty="0">
                <a:solidFill>
                  <a:srgbClr val="202124"/>
                </a:solidFill>
                <a:latin typeface="Google Sans"/>
                <a:cs typeface="Google Sans"/>
              </a:rPr>
              <a:t>Google ADK (Python / Go)</a:t>
            </a:r>
          </a:p>
        </p:txBody>
      </p:sp>
      <p:sp>
        <p:nvSpPr>
          <p:cNvPr id="16" name="Box 16"/>
          <p:cNvSpPr txBox="1"/>
          <p:nvPr/>
        </p:nvSpPr>
        <p:spPr>
          <a:xfrm>
            <a:off x="609600" y="2870200"/>
            <a:ext cx="5384800" cy="1778000"/>
          </a:xfrm>
          <a:prstGeom prst="roundRect">
            <a:avLst>
              <a:gd name="adj" fmla="val 8000"/>
            </a:avLst>
          </a:prstGeom>
          <a:solidFill>
            <a:srgbClr val="F8FAFF"/>
          </a:solidFill>
          <a:ln w="25400">
            <a:solidFill>
              <a:srgbClr val="4285F4"/>
            </a:solidFill>
          </a:ln>
        </p:spPr>
        <p:txBody>
          <a:bodyPr wrap="square" lIns="203200" tIns="1524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1200" b="1" dirty="0">
                <a:solidFill>
                  <a:srgbClr val="1967D2"/>
                </a:solidFill>
                <a:latin typeface="Google Sans"/>
                <a:cs typeface="Google Sans"/>
              </a:rPr>
              <a:t>6 Overridden Runtime Commands   </a:t>
            </a:r>
            <a:r>
              <a:rPr lang="en-US" sz="1000" b="1" dirty="0">
                <a:solidFill>
                  <a:srgbClr val="1967D2"/>
                </a:solidFill>
                <a:latin typeface="Google Sans Mono"/>
                <a:cs typeface="Google Sans Mono"/>
              </a:rPr>
              <a:t>[↑ langchain]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run -&gt; uv run python scripts/run.py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playground -&gt; uv run langgraph dev --port 8080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eval.generate -&gt; uv run python scripts/eval_generate.py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publish.gemini-enterprise &amp; eval.dataset / optimize</a:t>
            </a:r>
          </a:p>
        </p:txBody>
      </p:sp>
      <p:sp>
        <p:nvSpPr>
          <p:cNvPr id="17" name="Box 17"/>
          <p:cNvSpPr txBox="1"/>
          <p:nvPr/>
        </p:nvSpPr>
        <p:spPr>
          <a:xfrm>
            <a:off x="6197600" y="2870200"/>
            <a:ext cx="5384800" cy="1778000"/>
          </a:xfrm>
          <a:prstGeom prst="roundRect">
            <a:avLst>
              <a:gd name="adj" fmla="val 8000"/>
            </a:avLst>
          </a:prstGeom>
          <a:solidFill>
            <a:srgbClr val="F6FEF8"/>
          </a:solidFill>
          <a:ln w="25400">
            <a:solidFill>
              <a:srgbClr val="34A853"/>
            </a:solidFill>
          </a:ln>
        </p:spPr>
        <p:txBody>
          <a:bodyPr wrap="square" lIns="203200" tIns="1524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1200" b="1" dirty="0">
                <a:solidFill>
                  <a:srgbClr val="137333"/>
                </a:solidFill>
                <a:latin typeface="Google Sans"/>
                <a:cs typeface="Google Sans"/>
              </a:rPr>
              <a:t>18+ Native Production Commands   </a:t>
            </a:r>
            <a:r>
              <a:rPr lang="en-US" sz="1000" b="1" dirty="0">
                <a:solidFill>
                  <a:srgbClr val="137333"/>
                </a:solidFill>
                <a:latin typeface="Google Sans Mono"/>
                <a:cs typeface="Google Sans Mono"/>
              </a:rPr>
              <a:t>[Built-In]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deploy (Cloud Run / GKE via FastAPI A2A)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eval grade / eval compare / eval analyze (Vertex AI)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infra (Terraform) &amp; scaffold create / enhance / upgrade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3C4043"/>
                </a:solidFill>
                <a:latin typeface="Google Sans Mono"/>
                <a:cs typeface="Google Sans Mono"/>
              </a:rPr>
              <a:t>• extension add / list / update &amp; install / info / lint</a:t>
            </a:r>
          </a:p>
        </p:txBody>
      </p:sp>
      <p:sp>
        <p:nvSpPr>
          <p:cNvPr id="18" name="Rect 18"/>
          <p:cNvSpPr/>
          <p:nvPr/>
        </p:nvSpPr>
        <p:spPr>
          <a:xfrm>
            <a:off x="609600" y="4800600"/>
            <a:ext cx="10972800" cy="1219200"/>
          </a:xfrm>
          <a:prstGeom prst="roundRect">
            <a:avLst>
              <a:gd name="adj" fmla="val 8000"/>
            </a:avLst>
          </a:prstGeom>
          <a:solidFill>
            <a:srgbClr val="202124"/>
          </a:solidFill>
          <a:ln>
            <a:noFill/>
          </a:ln>
        </p:spPr>
      </p:sp>
      <p:sp>
        <p:nvSpPr>
          <p:cNvPr id="19" name="Box 19"/>
          <p:cNvSpPr txBox="1"/>
          <p:nvPr/>
        </p:nvSpPr>
        <p:spPr>
          <a:xfrm>
            <a:off x="812800" y="49022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"/>
                <a:cs typeface="Google Sans"/>
              </a:rPr>
              <a:t>3. GOOGLE CLOUD PRODUCTION FOUNDATION</a:t>
            </a:r>
          </a:p>
        </p:txBody>
      </p:sp>
      <p:sp>
        <p:nvSpPr>
          <p:cNvPr id="20" name="Box 20"/>
          <p:cNvSpPr txBox="1"/>
          <p:nvPr/>
        </p:nvSpPr>
        <p:spPr>
          <a:xfrm>
            <a:off x="812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Cloud Run (FastAPI A2A)</a:t>
            </a:r>
          </a:p>
        </p:txBody>
      </p:sp>
      <p:sp>
        <p:nvSpPr>
          <p:cNvPr id="21" name="Box 21"/>
          <p:cNvSpPr txBox="1"/>
          <p:nvPr/>
        </p:nvSpPr>
        <p:spPr>
          <a:xfrm>
            <a:off x="3479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Vertex AI Eval Service</a:t>
            </a:r>
          </a:p>
        </p:txBody>
      </p:sp>
      <p:sp>
        <p:nvSpPr>
          <p:cNvPr id="22" name="Box 22"/>
          <p:cNvSpPr txBox="1"/>
          <p:nvPr/>
        </p:nvSpPr>
        <p:spPr>
          <a:xfrm>
            <a:off x="6146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Gemini on Vertex AI</a:t>
            </a:r>
          </a:p>
        </p:txBody>
      </p:sp>
      <p:sp>
        <p:nvSpPr>
          <p:cNvPr id="23" name="Box 23"/>
          <p:cNvSpPr txBox="1"/>
          <p:nvPr/>
        </p:nvSpPr>
        <p:spPr>
          <a:xfrm>
            <a:off x="8813800" y="5232400"/>
            <a:ext cx="2514600" cy="558800"/>
          </a:xfrm>
          <a:prstGeom prst="roundRect">
            <a:avLst>
              <a:gd name="adj" fmla="val 15000"/>
            </a:avLst>
          </a:prstGeom>
          <a:solidFill>
            <a:srgbClr val="2D3136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950" b="0" dirty="0">
                <a:solidFill>
                  <a:srgbClr val="FFFFFF"/>
                </a:solidFill>
                <a:latin typeface="Google Sans Mono"/>
                <a:cs typeface="Google Sans Mono"/>
              </a:rPr>
              <a:t>Cloud Trace &amp; Logging</a:t>
            </a:r>
          </a:p>
        </p:txBody>
      </p:sp>
      <p:sp>
        <p:nvSpPr>
          <p:cNvPr id="24" name="Rect 24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25" name="Box 25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Same Dockerfile CMD &amp; FastAPI A2A contract across every framework</a:t>
            </a:r>
          </a:p>
        </p:txBody>
      </p:sp>
      <p:sp>
        <p:nvSpPr>
          <p:cNvPr id="26" name="Box 26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5F6368"/>
                </a:solidFill>
                <a:latin typeface="Google Sans Mono"/>
                <a:cs typeface="Google Sans Mono"/>
              </a:rPr>
              <a:t>app.fast_api_app:app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80"/>
                            </p:stCondLst>
                            <p:childTnLst>
                              <p:par>
                                <p:cTn id="3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80"/>
                            </p:stCondLst>
                            <p:childTnLst>
                              <p:par>
                                <p:cTn id="4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80"/>
                            </p:stCondLst>
                            <p:childTnLst>
                              <p:par>
                                <p:cTn id="4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80"/>
                            </p:stCondLst>
                            <p:childTnLst>
                              <p:par>
                                <p:cTn id="5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80"/>
                            </p:stCondLst>
                            <p:childTnLst>
                              <p:par>
                                <p:cTn id="5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80"/>
                            </p:stCondLst>
                            <p:childTnLst>
                              <p:par>
                                <p:cTn id="6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0"/>
                            </p:stCondLst>
                            <p:childTnLst>
                              <p:par>
                                <p:cTn id="6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80"/>
                            </p:stCondLst>
                            <p:childTnLst>
                              <p:par>
                                <p:cTn id="6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80"/>
                            </p:stCondLst>
                            <p:childTnLst>
                              <p:par>
                                <p:cTn id="7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9" grpId="0"/>
      <p:bldP spid="20" grpId="0"/>
      <p:bldP spid="21" grpId="0"/>
      <p:bldP spid="22" grpId="0"/>
      <p:bldP spid="23" grpId="0"/>
      <p:bldP spid="25" grpId="0"/>
      <p:bldP spid="2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LIVE DEMO  •  ACT 1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05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Scaffold a pure LangGraph project in one command.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Scaffolding and extension installation happen together. Nothing needs to be installed globally.</a:t>
            </a:r>
          </a:p>
        </p:txBody>
      </p:sp>
      <p:sp>
        <p:nvSpPr>
          <p:cNvPr id="10" name="Rect 10"/>
          <p:cNvSpPr/>
          <p:nvPr/>
        </p:nvSpPr>
        <p:spPr>
          <a:xfrm>
            <a:off x="609600" y="1651000"/>
            <a:ext cx="10972800" cy="4318000"/>
          </a:xfrm>
          <a:prstGeom prst="roundRect">
            <a:avLst>
              <a:gd name="adj" fmla="val 6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</p:sp>
      <p:sp>
        <p:nvSpPr>
          <p:cNvPr id="11" name="Rect 11"/>
          <p:cNvSpPr/>
          <p:nvPr/>
        </p:nvSpPr>
        <p:spPr>
          <a:xfrm>
            <a:off x="609600" y="1651000"/>
            <a:ext cx="10972800" cy="406400"/>
          </a:xfrm>
          <a:prstGeom prst="roundRect">
            <a:avLst>
              <a:gd name="adj" fmla="val 6000"/>
            </a:avLst>
          </a:prstGeom>
          <a:solidFill>
            <a:srgbClr val="1E1F22"/>
          </a:solidFill>
          <a:ln w="12700">
            <a:solidFill>
              <a:srgbClr val="3C4043"/>
            </a:solidFill>
          </a:ln>
        </p:spPr>
      </p:sp>
      <p:sp>
        <p:nvSpPr>
          <p:cNvPr id="12" name="Rect 12"/>
          <p:cNvSpPr/>
          <p:nvPr/>
        </p:nvSpPr>
        <p:spPr>
          <a:xfrm>
            <a:off x="812800" y="17907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EA4335"/>
          </a:solidFill>
          <a:ln>
            <a:noFill/>
          </a:ln>
        </p:spPr>
      </p:sp>
      <p:sp>
        <p:nvSpPr>
          <p:cNvPr id="13" name="Rect 13"/>
          <p:cNvSpPr/>
          <p:nvPr/>
        </p:nvSpPr>
        <p:spPr>
          <a:xfrm>
            <a:off x="1016000" y="17907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FBBC04"/>
          </a:solidFill>
          <a:ln>
            <a:noFill/>
          </a:ln>
        </p:spPr>
      </p:sp>
      <p:sp>
        <p:nvSpPr>
          <p:cNvPr id="14" name="Rect 14"/>
          <p:cNvSpPr/>
          <p:nvPr/>
        </p:nvSpPr>
        <p:spPr>
          <a:xfrm>
            <a:off x="1219200" y="1790700"/>
            <a:ext cx="127000" cy="127000"/>
          </a:xfrm>
          <a:prstGeom prst="roundRect">
            <a:avLst>
              <a:gd name="adj" fmla="val 50000"/>
            </a:avLst>
          </a:prstGeom>
          <a:solidFill>
            <a:srgbClr val="34A853"/>
          </a:solidFill>
          <a:ln>
            <a:noFill/>
          </a:ln>
        </p:spPr>
      </p:sp>
      <p:sp>
        <p:nvSpPr>
          <p:cNvPr id="15" name="Box 15"/>
          <p:cNvSpPr txBox="1"/>
          <p:nvPr/>
        </p:nvSpPr>
        <p:spPr>
          <a:xfrm>
            <a:off x="1498600" y="17018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25400" rIns="0" bIns="25400" anchor="ctr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zsh — scalfod-langgraph-agentscli</a:t>
            </a:r>
          </a:p>
        </p:txBody>
      </p:sp>
      <p:sp>
        <p:nvSpPr>
          <p:cNvPr id="16" name="Box 16"/>
          <p:cNvSpPr txBox="1"/>
          <p:nvPr/>
        </p:nvSpPr>
        <p:spPr>
          <a:xfrm>
            <a:off x="863600" y="2209800"/>
            <a:ext cx="10464800" cy="116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8AB4F8"/>
                </a:solidFill>
                <a:latin typeface="Google Sans Mono"/>
                <a:cs typeface="Google Sans Mono"/>
              </a:rPr>
              <a:t># 1. Scaffold directly from the first-party LangChain template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create scalfod-langgraph-agentscli \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--agent google/agents-cli/extensions/langchain/template@v1.8.0 \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-d cloud_run</a:t>
            </a:r>
          </a:p>
        </p:txBody>
      </p:sp>
      <p:sp>
        <p:nvSpPr>
          <p:cNvPr id="17" name="Box 17"/>
          <p:cNvSpPr txBox="1"/>
          <p:nvPr/>
        </p:nvSpPr>
        <p:spPr>
          <a:xfrm>
            <a:off x="863600" y="3505200"/>
            <a:ext cx="10464800" cy="990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$ cd scalfod-langgraph-agentscli &amp;&amp; agents-cli install</a:t>
            </a:r>
          </a:p>
          <a:p>
            <a:pPr algn="l">
              <a:lnSpc>
                <a:spcPct val="118000"/>
              </a:lnSpc>
            </a:pPr>
            <a:r>
              <a:rPr lang="en-US" sz="1050" b="0" dirty="0">
                <a:solidFill>
                  <a:srgbClr val="81C995"/>
                </a:solidFill>
                <a:latin typeface="Google Sans Mono"/>
                <a:cs typeface="Google Sans Mono"/>
              </a:rPr>
              <a:t>Agents CLI v1.8.0 • Fetching remote template: google/agents-cli/extensions/langchain/template@v1.8.0</a:t>
            </a:r>
          </a:p>
          <a:p>
            <a:pPr algn="l">
              <a:lnSpc>
                <a:spcPct val="118000"/>
              </a:lnSpc>
            </a:pPr>
            <a:r>
              <a:rPr lang="en-US" sz="1050" b="1" dirty="0">
                <a:solidFill>
                  <a:srgbClr val="81C995"/>
                </a:solidFill>
                <a:latin typeface="Google Sans Mono"/>
                <a:cs typeface="Google Sans Mono"/>
              </a:rPr>
              <a:t>&gt; ✓ Connected to project: your-project • Your agent project is ready.</a:t>
            </a:r>
          </a:p>
        </p:txBody>
      </p:sp>
      <p:sp>
        <p:nvSpPr>
          <p:cNvPr id="18" name="Box 18"/>
          <p:cNvSpPr txBox="1"/>
          <p:nvPr/>
        </p:nvSpPr>
        <p:spPr>
          <a:xfrm>
            <a:off x="863600" y="4648200"/>
            <a:ext cx="104648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8AB4F8"/>
                </a:solidFill>
                <a:latin typeface="Google Sans Mono"/>
                <a:cs typeface="Google Sans Mono"/>
              </a:rPr>
              <a:t># 2. Prove zero google-adk dependency in pyproject.toml and app/</a:t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E8EAED"/>
                </a:solidFill>
                <a:latin typeface="Google Sans Mono"/>
                <a:cs typeface="Google Sans Mono"/>
              </a:rPr>
              <a:t>$ grep -r "google.adk\|google-adk" pyproject.toml app/ ; echo "exit: $?"</a:t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FDD663"/>
                </a:solidFill>
                <a:latin typeface="Google Sans Mono"/>
                <a:cs typeface="Google Sans Mono"/>
              </a:rPr>
              <a:t>exit: 1   # Zero google-adk dependency verified!</a:t>
            </a:r>
          </a:p>
        </p:txBody>
      </p:sp>
      <p:sp>
        <p:nvSpPr>
          <p:cNvPr id="19" name="Rect 19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20" name="Box 20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Auto-loaded via ./agents-cli-extension.yaml at project root</a:t>
            </a:r>
          </a:p>
        </p:txBody>
      </p:sp>
      <p:sp>
        <p:nvSpPr>
          <p:cNvPr id="21" name="Box 21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Zero ADK Dependency Verified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80"/>
                            </p:stCondLst>
                            <p:childTnLst>
                              <p:par>
                                <p:cTn id="3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80"/>
                            </p:stCondLst>
                            <p:childTnLst>
                              <p:par>
                                <p:cTn id="4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5" grpId="0"/>
      <p:bldP spid="16" grpId="0"/>
      <p:bldP spid="17" grpId="0"/>
      <p:bldP spid="18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B06000"/>
                </a:solidFill>
                <a:latin typeface="Google Sans"/>
                <a:cs typeface="Google Sans"/>
              </a:rPr>
              <a:t>CODEBASE ARCHITECTURE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06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One graph representation: CompiledStateGraph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In LangChain 1.0+, create_agent compiles directly into a LangGraph CompiledStateGraph.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8AB4F8"/>
                </a:solidFill>
                <a:latin typeface="Google Sans"/>
                <a:cs typeface="Google Sans"/>
              </a:rPr>
              <a:t>Project Tree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scalfod-langgraph-agentscli/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</a:t>
            </a:r>
            <a:r>
              <a:rPr lang="en-US" sz="1000" b="1" dirty="0">
                <a:solidFill>
                  <a:srgbClr val="FDD663"/>
                </a:solidFill>
                <a:latin typeface="Google Sans Mono"/>
                <a:cs typeface="Google Sans Mono"/>
              </a:rPr>
              <a:t>agents-cli-extension.yaml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# Overrides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agents-cli-manifest.yaml   # cloud_run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</a:t>
            </a:r>
            <a:r>
              <a:rPr lang="en-US" sz="1000" b="1" dirty="0">
                <a:solidFill>
                  <a:srgbClr val="FDD663"/>
                </a:solidFill>
                <a:latin typeface="Google Sans Mono"/>
                <a:cs typeface="Google Sans Mono"/>
              </a:rPr>
              <a:t>langgraph.json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           # Studio config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pyproject.toml             # langchain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Dockerfile                 # FastAPI :8080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app/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</a:t>
            </a: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agent.py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             # StateGraph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</a:t>
            </a: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tools.py</a:t>
            </a: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               # DeepCite tools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fast_api_app.py        # A2A server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└── app_utils/a2a.py       # agent.json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└── extensions/sbom-deploy/    # SBOM gate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62484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81C995"/>
                </a:solidFill>
                <a:latin typeface="Google Sans"/>
                <a:cs typeface="Google Sans"/>
              </a:rPr>
              <a:t>app/agent.py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8AB4F8"/>
                </a:solidFill>
                <a:latin typeface="Google Sans Mono"/>
                <a:cs typeface="Google Sans Mono"/>
              </a:rPr>
              <a:t>from langchain.agents import create_agent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8AB4F8"/>
                </a:solidFill>
                <a:latin typeface="Google Sans Mono"/>
                <a:cs typeface="Google Sans Mono"/>
              </a:rPr>
              <a:t>from langchain_google_genai import ChatGoogleGenerativeAI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8AB4F8"/>
                </a:solidFill>
                <a:latin typeface="Google Sans Mono"/>
                <a:cs typeface="Google Sans Mono"/>
              </a:rPr>
              <a:t>from langgraph.graph.state import CompiledStateGraph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llm = ChatGoogleGenerativeAI(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FDD663"/>
                </a:solidFill>
                <a:latin typeface="Google Sans Mono"/>
                <a:cs typeface="Google Sans Mono"/>
              </a:rPr>
              <a:t>    model="gemini-2.5-flash", temperature=0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)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root_agent: CompiledStateGraph = create_agent(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model=llm,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tools=[create_research_plan, search_curated_kb,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   search_arxiv_papers, critique_research_draft],</a:t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system_prompt=SYSTEM_PROMPT,</a:t>
            </a:r>
          </a:p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 Mono"/>
                <a:cs typeface="Google Sans Mono"/>
              </a:rPr>
              <a:t>)</a:t>
            </a:r>
          </a:p>
        </p:txBody>
      </p:sp>
      <p:sp>
        <p:nvSpPr>
          <p:cNvPr id="12" name="Rect 12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Authenticates automatically via Application Default Credentials (ADC) on Vertex AI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5F6368"/>
                </a:solidFill>
                <a:latin typeface="Google Sans Mono"/>
                <a:cs typeface="Google Sans Mono"/>
              </a:rPr>
              <a:t>GOOGLE_GENAI_USE_VERTEXAI=True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3" grpId="0"/>
      <p:bldP spid="1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1A73E8"/>
                </a:solidFill>
                <a:latin typeface="Google Sans"/>
                <a:cs typeface="Google Sans"/>
              </a:rPr>
              <a:t>DEEPCITE REFERENCE WORKLOAD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Mono"/>
                <a:cs typeface="Google Sans Mono"/>
              </a:rPr>
              <a:t>07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Iterative Research &amp; Self-Critique Loop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5F6368"/>
                </a:solidFill>
                <a:latin typeface="Google Sans Text"/>
                <a:cs typeface="Google Sans Text"/>
              </a:rPr>
              <a:t>Grounded retrieval and mandatory citation verification before generating the final technical report: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1A73E8"/>
                </a:solidFill>
                <a:latin typeface="Google Sans"/>
                <a:cs typeface="Google Sans"/>
              </a:rPr>
              <a:t>01 • PLAN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create_research_plan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Decomposes complex prompts into structured sub-questions and targeted search queries.</a:t>
            </a:r>
          </a:p>
        </p:txBody>
      </p:sp>
      <p:sp>
        <p:nvSpPr>
          <p:cNvPr id="11" name="Rect 11"/>
          <p:cNvSpPr/>
          <p:nvPr/>
        </p:nvSpPr>
        <p:spPr>
          <a:xfrm>
            <a:off x="635000" y="1727200"/>
            <a:ext cx="2540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12" name="Box 12"/>
          <p:cNvSpPr txBox="1"/>
          <p:nvPr/>
        </p:nvSpPr>
        <p:spPr>
          <a:xfrm>
            <a:off x="3403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B06000"/>
                </a:solidFill>
                <a:latin typeface="Google Sans"/>
                <a:cs typeface="Google Sans"/>
              </a:rPr>
              <a:t>02 • SEARCH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search_curated_kb / arxiv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Retrieves evidence with explicit IDs ([KB-...], [ARXIV-...], [WIKI-...]) and offline fallbacks.</a:t>
            </a:r>
          </a:p>
        </p:txBody>
      </p:sp>
      <p:sp>
        <p:nvSpPr>
          <p:cNvPr id="13" name="Rect 13"/>
          <p:cNvSpPr/>
          <p:nvPr/>
        </p:nvSpPr>
        <p:spPr>
          <a:xfrm>
            <a:off x="3429000" y="1727200"/>
            <a:ext cx="2540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14" name="Box 14"/>
          <p:cNvSpPr txBox="1"/>
          <p:nvPr/>
        </p:nvSpPr>
        <p:spPr>
          <a:xfrm>
            <a:off x="6197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C5221F"/>
                </a:solidFill>
                <a:latin typeface="Google Sans"/>
                <a:cs typeface="Google Sans"/>
              </a:rPr>
              <a:t>03 • CRITIQUE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critique_research_draft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Audits draft claims for &gt;= 2 distinct citations and depth; triggers revision if incomplete.</a:t>
            </a:r>
          </a:p>
        </p:txBody>
      </p:sp>
      <p:sp>
        <p:nvSpPr>
          <p:cNvPr id="15" name="Rect 15"/>
          <p:cNvSpPr/>
          <p:nvPr/>
        </p:nvSpPr>
        <p:spPr>
          <a:xfrm>
            <a:off x="6223000" y="1727200"/>
            <a:ext cx="2540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16" name="Box 16"/>
          <p:cNvSpPr txBox="1"/>
          <p:nvPr/>
        </p:nvSpPr>
        <p:spPr>
          <a:xfrm>
            <a:off x="8991600" y="1727200"/>
            <a:ext cx="2590800" cy="4191000"/>
          </a:xfrm>
          <a:prstGeom prst="roundRect">
            <a:avLst>
              <a:gd name="adj" fmla="val 45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203200" tIns="279400" rIns="2032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137333"/>
                </a:solidFill>
                <a:latin typeface="Google Sans"/>
                <a:cs typeface="Google Sans"/>
              </a:rPr>
              <a:t>04 • REPORT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1" dirty="0">
                <a:solidFill>
                  <a:srgbClr val="202124"/>
                </a:solidFill>
                <a:latin typeface="Google Sans Mono"/>
                <a:cs typeface="Google Sans Mono"/>
              </a:rPr>
              <a:t>research-report CLI</a:t>
            </a:r>
          </a:p>
          <a:p>
            <a:pPr algn="l">
              <a:lnSpc>
                <a:spcPct val="118000"/>
              </a:lnSpc>
            </a:pPr>
            <a:r>
              <a:rPr lang="en-US" sz="8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Outputs Markdown with inline [SOURCE_ID] citations and a verified ## References section.</a:t>
            </a:r>
          </a:p>
        </p:txBody>
      </p:sp>
      <p:sp>
        <p:nvSpPr>
          <p:cNvPr id="17" name="Rect 17"/>
          <p:cNvSpPr/>
          <p:nvPr/>
        </p:nvSpPr>
        <p:spPr>
          <a:xfrm>
            <a:off x="9017000" y="1727200"/>
            <a:ext cx="2540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18" name="Rect 18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DADCE0"/>
          </a:solidFill>
          <a:ln>
            <a:noFill/>
          </a:ln>
        </p:spPr>
      </p:sp>
      <p:sp>
        <p:nvSpPr>
          <p:cNvPr id="19" name="Box 19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5F6368"/>
                </a:solidFill>
                <a:latin typeface="Google Sans Text"/>
                <a:cs typeface="Google Sans Text"/>
              </a:rPr>
              <a:t>Deterministic offline fallbacks guarantee reproducible runs in CI/CD and sandboxed environments</a:t>
            </a:r>
          </a:p>
        </p:txBody>
      </p:sp>
      <p:sp>
        <p:nvSpPr>
          <p:cNvPr id="20" name="Box 20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1A73E8"/>
                </a:solidFill>
                <a:latin typeface="Google Sans Mono"/>
                <a:cs typeface="Google Sans Mono"/>
              </a:rPr>
              <a:t>app/tools.py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80"/>
                            </p:stCondLst>
                            <p:childTnLst>
                              <p:par>
                                <p:cTn id="3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80"/>
                            </p:stCondLst>
                            <p:childTnLst>
                              <p:par>
                                <p:cTn id="4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2" grpId="0"/>
      <p:bldP spid="14" grpId="0"/>
      <p:bldP spid="16" grpId="0"/>
      <p:bldP spid="19" grpId="0"/>
      <p:bldP spid="2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"/>
                <a:cs typeface="Google Sans"/>
              </a:rPr>
              <a:t>LIVE DEMO  •  ACT 2 &amp; ACT 3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08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 &amp; Vertex AI Evaluations.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Boot LangGraph Studio via agents-cli playground and grade traces with Vertex AI Eval Service.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1. RUN &amp; INSPECT IN LANGGRAPH STUDIO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--help | grep -E "playground|run 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playground  Start LangGraph server. </a:t>
            </a: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[↑ langchain]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run         Run compiled graph.     </a:t>
            </a: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[↑ langchain]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run "How do Agents CLI extensions work?"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WARNING:root:agents-cli: applying 6 extension command(s)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playground</a:t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&gt; Boots LangGraph Studio on http://localhost:8080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62484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2. OVERRIDDEN GENERATE + NATIVE GRADE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AB4F8"/>
                </a:solidFill>
                <a:latin typeface="Google Sans Mono"/>
                <a:cs typeface="Google Sans Mono"/>
              </a:rPr>
              <a:t># Overridden: Drives LangGraph CompiledStateGraph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generate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--dataset tests/eval/datasets/basic-dataset.json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-o tests/eval/output/</a:t>
            </a:r>
          </a:p>
          <a:p>
            <a:pPr algn="l">
              <a:lnSpc>
                <a:spcPct val="118000"/>
              </a:lnSpc>
            </a:pPr>
            <a:r>
              <a:rPr lang="en-US" sz="6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# Native: Scores traces via Vertex AI Eval Service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grade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--traces tests/eval/output/basic-dataset.json \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--config tests/eval/eval_config.yaml</a:t>
            </a:r>
          </a:p>
        </p:txBody>
      </p:sp>
      <p:sp>
        <p:nvSpPr>
          <p:cNvPr id="12" name="Rect 12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Unsupported ADK-simulator commands (eval dataset) exit cleanly with an explanation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Standard EvaluationDataset Schema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3" grpId="0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F28B82"/>
                </a:solidFill>
                <a:latin typeface="Google Sans"/>
                <a:cs typeface="Google Sans"/>
              </a:rPr>
              <a:t>LIVE DEMO  •  ACT 4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09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Policy-as-Code: Custom sbom-deploy Gate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041400"/>
            <a:ext cx="10972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1250" b="0" dirty="0">
                <a:solidFill>
                  <a:srgbClr val="BDC1C6"/>
                </a:solidFill>
                <a:latin typeface="Google Sans Text"/>
                <a:cs typeface="Google Sans Text"/>
              </a:rPr>
              <a:t>AGENTS_CLI_DISABLE_OVERRIDES=1 lets wrapper scripts run Syft + Grype checks and call native deploy without recursion.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6096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FDD663"/>
                </a:solidFill>
                <a:latin typeface="Google Sans"/>
                <a:cs typeface="Google Sans"/>
              </a:rPr>
              <a:t>AGENTS-CLI-EXTENSION.YAML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schema: agents-cli-extension/v1alpha1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name: sbom-deploy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description: Scan project SBOM, then run native deploy.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requires: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  agents_cli: "&gt;=1.5,&lt;2"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on_incompatible: warn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commands: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AB4F8"/>
                </a:solidFill>
                <a:latin typeface="Google Sans Mono"/>
                <a:cs typeface="Google Sans Mono"/>
              </a:rPr>
              <a:t>  override: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deploy: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      run: ["bash", "scripts/sbom_then_deploy.sh"]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AB4F8"/>
                </a:solidFill>
                <a:latin typeface="Google Sans Mono"/>
                <a:cs typeface="Google Sans Mono"/>
              </a:rPr>
              <a:t>  add: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    sbom-report: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81C995"/>
                </a:solidFill>
                <a:latin typeface="Google Sans Mono"/>
                <a:cs typeface="Google Sans Mono"/>
              </a:rPr>
              <a:t>      run: ["bash", "scripts/sbom_report.sh"]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6248400" y="1651000"/>
            <a:ext cx="5334000" cy="4318000"/>
          </a:xfrm>
          <a:prstGeom prst="roundRect">
            <a:avLst>
              <a:gd name="adj" fmla="val 45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228600" tIns="203200" rIns="228600" bIns="203200" anchor="t"/>
          <a:lstStyle/>
          <a:p>
            <a:pPr algn="l">
              <a:lnSpc>
                <a:spcPct val="118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SCRIPTS/SBOM_THEN_DEPLOY.SH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#!/usr/bin/env bash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set -euo pipefail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Generating CycloneDX SBOM..."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syft dir:. -o cyclonedx-json &gt; /tmp/sbom.cdx.json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Scanning for critical CVEs..."</a:t>
            </a:r>
          </a:p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FDD663"/>
                </a:solidFill>
                <a:latin typeface="Google Sans Mono"/>
                <a:cs typeface="Google Sans Mono"/>
              </a:rPr>
              <a:t>grype sbom:/tmp/sbom.cdx.json --fail-on critical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 Mono"/>
                <a:cs typeface="Google Sans Mono"/>
              </a:rPr>
              <a:t># Loader sets AGENTS_CLI_DISABLE_OVERRIDES=1</a:t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 Mono"/>
                <a:cs typeface="Google Sans Mono"/>
              </a:rPr>
              <a:t># Delegates to built-in deploy with zero recursion!</a:t>
            </a:r>
          </a:p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exec agents-cli deploy "$@"</a:t>
            </a:r>
          </a:p>
        </p:txBody>
      </p:sp>
      <p:sp>
        <p:nvSpPr>
          <p:cNvPr id="12" name="Rect 12"/>
          <p:cNvSpPr/>
          <p:nvPr/>
        </p:nvSpPr>
        <p:spPr>
          <a:xfrm>
            <a:off x="609600" y="6248400"/>
            <a:ext cx="10972800" cy="12700"/>
          </a:xfrm>
          <a:prstGeom prst="rect">
            <a:avLst/>
          </a:prstGeom>
          <a:solidFill>
            <a:srgbClr val="2D3343"/>
          </a:solidFill>
          <a:ln>
            <a:noFill/>
          </a:ln>
        </p:spPr>
      </p:sp>
      <p:sp>
        <p:nvSpPr>
          <p:cNvPr id="13" name="Box 13"/>
          <p:cNvSpPr txBox="1"/>
          <p:nvPr/>
        </p:nvSpPr>
        <p:spPr>
          <a:xfrm>
            <a:off x="609600" y="6324600"/>
            <a:ext cx="7112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Text"/>
                <a:cs typeface="Google Sans Text"/>
              </a:rPr>
              <a:t>$ agents-cli extension add local@./extensions/sbom-deploy --yes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7747000" y="6324600"/>
            <a:ext cx="3835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1" dirty="0">
                <a:solidFill>
                  <a:srgbClr val="81C995"/>
                </a:solidFill>
                <a:latin typeface="Google Sans Mono"/>
                <a:cs typeface="Google Sans Mono"/>
              </a:rPr>
              <a:t>AGENTS_CLI_DISABLE_OVERRIDES=1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2"/>
          <p:cNvSpPr/>
          <p:nvPr/>
        </p:nvSpPr>
        <p:spPr>
          <a:xfrm>
            <a:off x="0" y="0"/>
            <a:ext cx="3048000" cy="635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Rect 3"/>
          <p:cNvSpPr/>
          <p:nvPr/>
        </p:nvSpPr>
        <p:spPr>
          <a:xfrm>
            <a:off x="3048000" y="0"/>
            <a:ext cx="3048000" cy="635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Rect 4"/>
          <p:cNvSpPr/>
          <p:nvPr/>
        </p:nvSpPr>
        <p:spPr>
          <a:xfrm>
            <a:off x="6096000" y="0"/>
            <a:ext cx="3048000" cy="635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Rect 5"/>
          <p:cNvSpPr/>
          <p:nvPr/>
        </p:nvSpPr>
        <p:spPr>
          <a:xfrm>
            <a:off x="9144000" y="0"/>
            <a:ext cx="3048000" cy="635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Box 6"/>
          <p:cNvSpPr txBox="1"/>
          <p:nvPr/>
        </p:nvSpPr>
        <p:spPr>
          <a:xfrm>
            <a:off x="609600" y="254000"/>
            <a:ext cx="8636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950" b="1" dirty="0">
                <a:solidFill>
                  <a:srgbClr val="8AB4F8"/>
                </a:solidFill>
                <a:latin typeface="Google Sans"/>
                <a:cs typeface="Google Sans"/>
              </a:rPr>
              <a:t>GOOGLE CLOUD NEXT '27 SUMMARY</a:t>
            </a:r>
          </a:p>
        </p:txBody>
      </p:sp>
      <p:sp>
        <p:nvSpPr>
          <p:cNvPr id="7" name="Box 7"/>
          <p:cNvSpPr txBox="1"/>
          <p:nvPr/>
        </p:nvSpPr>
        <p:spPr>
          <a:xfrm>
            <a:off x="10795000" y="254000"/>
            <a:ext cx="787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>
              <a:lnSpc>
                <a:spcPct val="118000"/>
              </a:lnSpc>
            </a:pPr>
            <a:r>
              <a:rPr lang="en-US" sz="950" b="0" dirty="0">
                <a:solidFill>
                  <a:srgbClr val="9AA0A6"/>
                </a:solidFill>
                <a:latin typeface="Google Sans Mono"/>
                <a:cs typeface="Google Sans Mono"/>
              </a:rPr>
              <a:t>10 / 10</a:t>
            </a:r>
          </a:p>
        </p:txBody>
      </p:sp>
      <p:sp>
        <p:nvSpPr>
          <p:cNvPr id="8" name="Box 8"/>
          <p:cNvSpPr txBox="1"/>
          <p:nvPr/>
        </p:nvSpPr>
        <p:spPr>
          <a:xfrm>
            <a:off x="609600" y="5334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</a:pPr>
            <a:r>
              <a:rPr lang="en-US" sz="2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The Open Agent Development Lifecycle</a:t>
            </a:r>
          </a:p>
        </p:txBody>
      </p:sp>
      <p:sp>
        <p:nvSpPr>
          <p:cNvPr id="9" name="Box 9"/>
          <p:cNvSpPr txBox="1"/>
          <p:nvPr/>
        </p:nvSpPr>
        <p:spPr>
          <a:xfrm>
            <a:off x="609600" y="12700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AB4F8"/>
                </a:solidFill>
                <a:latin typeface="Google Sans Mono"/>
                <a:cs typeface="Google Sans Mono"/>
              </a:rPr>
              <a:t>01 • OPEN FRAMEWORKS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LangChain &amp; LangGraph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First-party template with zero google-adk dependency and unified CompiledStateGraph.</a:t>
            </a:r>
          </a:p>
        </p:txBody>
      </p:sp>
      <p:sp>
        <p:nvSpPr>
          <p:cNvPr id="10" name="Box 10"/>
          <p:cNvSpPr txBox="1"/>
          <p:nvPr/>
        </p:nvSpPr>
        <p:spPr>
          <a:xfrm>
            <a:off x="4343400" y="12700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1C995"/>
                </a:solidFill>
                <a:latin typeface="Google Sans Mono"/>
                <a:cs typeface="Google Sans Mono"/>
              </a:rPr>
              <a:t>02 • LOCAL DEVELOPER EXPERIENCE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agents-cli playground boots LangGraph dev server on port 8080 for visual graph inspection.</a:t>
            </a:r>
          </a:p>
        </p:txBody>
      </p:sp>
      <p:sp>
        <p:nvSpPr>
          <p:cNvPr id="11" name="Box 11"/>
          <p:cNvSpPr txBox="1"/>
          <p:nvPr/>
        </p:nvSpPr>
        <p:spPr>
          <a:xfrm>
            <a:off x="8077200" y="12700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FDD663"/>
                </a:solidFill>
                <a:latin typeface="Google Sans Mono"/>
                <a:cs typeface="Google Sans Mono"/>
              </a:rPr>
              <a:t>03 • QUALITY FLYWHEEL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Vertex AI Evaluations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Overridden eval generate pairs seamlessly with native eval grade and eval compare.</a:t>
            </a:r>
          </a:p>
        </p:txBody>
      </p:sp>
      <p:sp>
        <p:nvSpPr>
          <p:cNvPr id="12" name="Box 12"/>
          <p:cNvSpPr txBox="1"/>
          <p:nvPr/>
        </p:nvSpPr>
        <p:spPr>
          <a:xfrm>
            <a:off x="609600" y="32385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F28B82"/>
                </a:solidFill>
                <a:latin typeface="Google Sans Mono"/>
                <a:cs typeface="Google Sans Mono"/>
              </a:rPr>
              <a:t>04 • ENTERPRISE GOVERNANCE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SBOM Pre-Deploy Gates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Wrap deploy with Syft + Grype checks and delegate safely via AGENTS_CLI_DISABLE_OVERRIDES=1.</a:t>
            </a:r>
          </a:p>
        </p:txBody>
      </p:sp>
      <p:sp>
        <p:nvSpPr>
          <p:cNvPr id="13" name="Box 13"/>
          <p:cNvSpPr txBox="1"/>
          <p:nvPr/>
        </p:nvSpPr>
        <p:spPr>
          <a:xfrm>
            <a:off x="4343400" y="32385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AB4F8"/>
                </a:solidFill>
                <a:latin typeface="Google Sans Mono"/>
                <a:cs typeface="Google Sans Mono"/>
              </a:rPr>
              <a:t>05 • SUPPLY-CHAIN SECURITY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SHA Lockfile Discipline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Pinned commit SHAs in agents-cli-extensions.yaml ensure bit-for-bit reproducible CI builds.</a:t>
            </a:r>
          </a:p>
        </p:txBody>
      </p:sp>
      <p:sp>
        <p:nvSpPr>
          <p:cNvPr id="14" name="Box 14"/>
          <p:cNvSpPr txBox="1"/>
          <p:nvPr/>
        </p:nvSpPr>
        <p:spPr>
          <a:xfrm>
            <a:off x="8077200" y="3238500"/>
            <a:ext cx="3505200" cy="1778000"/>
          </a:xfrm>
          <a:prstGeom prst="roundRect">
            <a:avLst>
              <a:gd name="adj" fmla="val 45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203200" tIns="177800" rIns="203200" bIns="152400" anchor="t"/>
          <a:lstStyle/>
          <a:p>
            <a:pPr algn="l">
              <a:lnSpc>
                <a:spcPct val="118000"/>
              </a:lnSpc>
            </a:pPr>
            <a:r>
              <a:rPr lang="en-US" sz="850" b="1" dirty="0">
                <a:solidFill>
                  <a:srgbClr val="81C995"/>
                </a:solidFill>
                <a:latin typeface="Google Sans Mono"/>
                <a:cs typeface="Google Sans Mono"/>
              </a:rPr>
              <a:t>06 • SERVERLESS PRODUCTION</a:t>
            </a:r>
          </a:p>
          <a:p>
            <a:pPr algn="l">
              <a:lnSpc>
                <a:spcPct val="118000"/>
              </a:lnSpc>
            </a:pPr>
            <a:r>
              <a:rPr lang="en-US" sz="15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Cloud Run + A2A Protocol</a:t>
            </a:r>
          </a:p>
          <a:p>
            <a:pPr algn="l">
              <a:lnSpc>
                <a:spcPct val="118000"/>
              </a:lnSpc>
            </a:pPr>
            <a:r>
              <a:rPr lang="en-US" sz="4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18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Text"/>
                <a:cs typeface="Google Sans Text"/>
              </a:rPr>
              <a:t>Exposes /.well-known/agent.json and /a2a/tasks/send over FastAPI on port 8080.</a:t>
            </a:r>
          </a:p>
        </p:txBody>
      </p:sp>
      <p:sp>
        <p:nvSpPr>
          <p:cNvPr id="15" name="Rect 15"/>
          <p:cNvSpPr/>
          <p:nvPr/>
        </p:nvSpPr>
        <p:spPr>
          <a:xfrm>
            <a:off x="609600" y="52705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131C31"/>
          </a:solidFill>
          <a:ln w="19050">
            <a:solidFill>
              <a:srgbClr val="4285F4"/>
            </a:solidFill>
          </a:ln>
        </p:spPr>
      </p:sp>
      <p:sp>
        <p:nvSpPr>
          <p:cNvPr id="16" name="Box 16"/>
          <p:cNvSpPr txBox="1"/>
          <p:nvPr/>
        </p:nvSpPr>
        <p:spPr>
          <a:xfrm>
            <a:off x="863600" y="5397500"/>
            <a:ext cx="7112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25400" rIns="0" bIns="25400" anchor="t"/>
          <a:lstStyle/>
          <a:p>
            <a:pPr algn="l">
              <a:lnSpc>
                <a:spcPct val="118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"/>
                <a:cs typeface="Google Sans"/>
              </a:rPr>
              <a:t>GET STARTED TODAY</a:t>
            </a:r>
          </a:p>
          <a:p>
            <a:pPr algn="l">
              <a:lnSpc>
                <a:spcPct val="118000"/>
              </a:lnSpc>
            </a:pPr>
            <a:r>
              <a:rPr lang="en-US" sz="1400" b="1" dirty="0">
                <a:solidFill>
                  <a:srgbClr val="FFFFFF"/>
                </a:solidFill>
                <a:latin typeface="Google Sans Mono"/>
                <a:cs typeface="Google Sans Mono"/>
              </a:rPr>
              <a:t>https://github.com/sanketbisne/scalfod-langgraph-agentscli</a:t>
            </a:r>
          </a:p>
        </p:txBody>
      </p:sp>
      <p:sp>
        <p:nvSpPr>
          <p:cNvPr id="17" name="Box 17"/>
          <p:cNvSpPr txBox="1"/>
          <p:nvPr/>
        </p:nvSpPr>
        <p:spPr>
          <a:xfrm>
            <a:off x="8572500" y="5499100"/>
            <a:ext cx="2730500" cy="45720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</p:spPr>
        <p:txBody>
          <a:bodyPr wrap="square" lIns="152400" tIns="127000" rIns="152400" bIns="127000" anchor="ctr"/>
          <a:lstStyle/>
          <a:p>
            <a:pPr algn="c">
              <a:lnSpc>
                <a:spcPct val="118000"/>
              </a:lnSpc>
            </a:pPr>
            <a:r>
              <a:rPr lang="en-US" sz="1000" b="1" dirty="0">
                <a:solidFill>
                  <a:srgbClr val="FFFFFF"/>
                </a:solidFill>
                <a:latin typeface="Google Sans Mono"/>
                <a:cs typeface="Google Sans Mono"/>
              </a:rPr>
              <a:t>uvx google-agents-cli setup</a:t>
            </a:r>
          </a:p>
        </p:txBody>
      </p:sp>
    </p:spTree>
  </p:cSld>
  <p:clrMapOvr>
    <a:masterClrMapping/>
  </p:clrMapOvr>
  <p:transition spd="med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10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"/>
                            </p:stCondLst>
                            <p:childTnLst>
                              <p:par>
                                <p:cTn id="1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80"/>
                            </p:stCondLst>
                            <p:childTnLst>
                              <p:par>
                                <p:cTn id="1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80"/>
                            </p:stCondLst>
                            <p:childTnLst>
                              <p:par>
                                <p:cTn id="2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80"/>
                            </p:stCondLst>
                            <p:childTnLst>
                              <p:par>
                                <p:cTn id="2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8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80"/>
                            </p:stCondLst>
                            <p:childTnLst>
                              <p:par>
                                <p:cTn id="3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80"/>
                            </p:stCondLst>
                            <p:childTnLst>
                              <p:par>
                                <p:cTn id="37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80"/>
                            </p:stCondLst>
                            <p:childTnLst>
                              <p:par>
                                <p:cTn id="41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80"/>
                            </p:stCondLst>
                            <p:childTnLst>
                              <p:par>
                                <p:cTn id="4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6" grpId="0"/>
      <p:bldP spid="17" grpId="0"/>
    </p:bldLst>
  </p:timing>
</p:sld>
</file>

<file path=ppt/theme/theme1.xml><?xml version="1.0" encoding="utf-8"?>
<a:theme xmlns:a="http://schemas.openxmlformats.org/drawingml/2006/main" name="GoogleCloudNext27">
  <a:themeElements>
    <a:clrScheme name="GoogleCloud">
      <a:dk1>
        <a:srgbClr val="202124"/>
      </a:dk1>
      <a:lt1>
        <a:srgbClr val="FFFFFF"/>
      </a:lt1>
      <a:dk2>
        <a:srgbClr val="0E1015"/>
      </a:dk2>
      <a:lt2>
        <a:srgbClr val="F8F9FA"/>
      </a:lt2>
      <a:accent1>
        <a:srgbClr val="4285F4"/>
      </a:accent1>
      <a:accent2>
        <a:srgbClr val="EA4335"/>
      </a:accent2>
      <a:accent3>
        <a:srgbClr val="FBBC04"/>
      </a:accent3>
      <a:accent4>
        <a:srgbClr val="34A853"/>
      </a:accent4>
      <a:accent5>
        <a:srgbClr val="8AB4F8"/>
      </a:accent5>
      <a:accent6>
        <a:srgbClr val="81C995"/>
      </a:accent6>
      <a:hlink>
        <a:srgbClr val="4285F4"/>
      </a:hlink>
      <a:folHlink>
        <a:srgbClr val="9B72CB"/>
      </a:folHlink>
    </a:clrScheme>
    <a:fontScheme name="GoogleSansScheme">
      <a:majorFont>
        <a:latin typeface="Google Sans Display"/>
        <a:ea typeface=""/>
        <a:cs typeface=""/>
      </a:majorFont>
      <a:minorFont>
        <a:latin typeface="Google Sans Text"/>
        <a:ea typeface=""/>
        <a:cs typeface=""/>
      </a:minorFont>
    </a:fontScheme>
    <a:fmtScheme name="Google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